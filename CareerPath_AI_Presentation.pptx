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38404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3C5FD"/>
                </a:solidFill>
              </a:defRPr>
            </a:pPr>
            <a:r>
              <a:t>SAS &amp; CHANDIGARH UNIVERSITY HACKATHON ·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CareerPath AI</a:t>
            </a:r>
          </a:p>
          <a:p>
            <a:pPr>
              <a:spcBef>
                <a:spcPts val="800"/>
              </a:spcBef>
              <a:defRPr sz="1600">
                <a:solidFill>
                  <a:srgbClr val="BFDBFE"/>
                </a:solidFill>
              </a:defRPr>
            </a:pPr>
            <a:r>
              <a:t>Intelligent Talent &amp; Workforce Ecosystem: Prescriptive Career Mobility, Empirical Benchmarking &amp; ML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2468880" cy="15544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ESCO International Taxonomy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European Commission v1.1 ontology standardized across 81 IT &amp; Data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3291840"/>
            <a:ext cx="2468880" cy="15544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Closed-Form ML Engine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NumPy Ridge compensation predictor (R²=0.715, fresher local MAE ₹1.18L).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291840"/>
            <a:ext cx="2468880" cy="15544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Talent Intelligence Dual-Track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Gaussian Naive Bayes promotion &amp; Big Five OCEAN leadership classifiers.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91840"/>
            <a:ext cx="2468880" cy="15544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Prescriptive Roadmap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Automated mapping to free government SWAYAM &amp; NPTEL verified courses.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5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Team: CareerPath AI  |  Track: Intelligent Talent &amp; Workforce Ecosystem  |  Presented: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02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Evaluation Alignment · 100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Round 2 Official Judging Rubric Alignment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Every slide directly corresponds to the 6 criteria evaluated by the Hackathon Jury sheet.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005840"/>
                <a:gridCol w="6400800"/>
              </a:tblGrid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Criterion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Marks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Analytical Evidence &amp; Implementation Deliverable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 Problem Definition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</a:defRPr>
                      </a:pPr>
                      <a:r>
                        <a:t>10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Slide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National graduate employability mismatch, structural syllabus-market divergence, scope &amp; depth.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2. Approach Description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</a:defRPr>
                      </a:pPr>
                      <a:r>
                        <a:t>15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Slide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4-tier architecture, ESCO v1.1 ontology, pure NumPy closed-form design rationale (no LLM black-box).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3. Data Exploration &amp; Preparation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</a:defRPr>
                      </a:pPr>
                      <a:r>
                        <a:t>15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Slides 5-7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 datasets provenance, rows before-&gt;after cleaning audit, null imputations, 4 dedicated high-res EDA figures.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4. Data Analysis &amp; ML Pipeline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</a:defRPr>
                      </a:pPr>
                      <a:r>
                        <a:t>30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Slides 8-11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93k jobs market audit, Chi-Square (p&lt;10⁻³⁷), 4-model CV comparison, Ridge regressor (fresher MAE ₹1.18L), weight sensitivity.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5. Results &amp; Conclusions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</a:defRPr>
                      </a:pPr>
                      <a:r>
                        <a:t>20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Slides 12-13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Live application workflow, Career Growth simulator, Talent Intelligence, ReportLab PDF export.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6. Implications &amp; Impact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</a:defRPr>
                      </a:pPr>
                      <a:r>
                        <a:t>10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Slides 14-15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60-student batch pilot (41.2% -&gt; 86.7% placement ready), demographic parity audit (DIR=1.000), NEP 2020.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03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1 · Problem Definition (10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Problem Definition &amp; Analytics Objectives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Addressing India's graduate employability crisis through transparent, algorithmic skill benchmarking.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1280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1.5M+ Annual Graduates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Over 15 lakh technical students graduate yearly across India, but NASSCOM &amp; Wheebox report &lt;45% are corporate-ready.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2801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Curriculum vs Market Mismatch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Colleges teach theoretical syntax; market demands full-stack competency ontologies (e.g. React/TypeScript/Docker).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1280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Hiring Platforms Fall Short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LinkedIn &amp; Naukri filter candidates out without telling them what they lack or how to bridge the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106984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Core Analytical Objectives &amp; Architectural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b="1" sz="1050">
                <a:solidFill>
                  <a:srgbClr val="1E3A8A"/>
                </a:solidFill>
              </a:defRPr>
            </a:pPr>
            <a:r>
              <a:t>• Deterministic Skill Extraction &amp; Normalization: </a:t>
            </a:r>
            <a:r>
              <a:rPr b="0" sz="1000">
                <a:solidFill>
                  <a:srgbClr val="0F172A"/>
                </a:solidFill>
              </a:rPr>
              <a:t>Parse unstructured PDF/DOCX resumes using PyMuPDF and map 300+ technical variants into canonical ontological entities using RapidFuzz (eliminating typos like 'react.js' -&gt; 'React').</a:t>
            </a:r>
          </a:p>
          <a:p>
            <a:pPr>
              <a:spcBef>
                <a:spcPts val="600"/>
              </a:spcBef>
              <a:defRPr b="1" sz="1050">
                <a:solidFill>
                  <a:srgbClr val="1E3A8A"/>
                </a:solidFill>
              </a:defRPr>
            </a:pPr>
            <a:r>
              <a:t>• Ontological Skill-Gap Scoring: </a:t>
            </a:r>
            <a:r>
              <a:rPr b="0" sz="1000">
                <a:solidFill>
                  <a:srgbClr val="0F172A"/>
                </a:solidFill>
              </a:rPr>
              <a:t>Evaluate candidate skills against European Commission ESCO v1.1 ICT standards using a weighted 70% Essential / 30% Optional scoring formula.</a:t>
            </a:r>
          </a:p>
          <a:p>
            <a:pPr>
              <a:spcBef>
                <a:spcPts val="600"/>
              </a:spcBef>
              <a:defRPr b="1" sz="1050">
                <a:solidFill>
                  <a:srgbClr val="1E3A8A"/>
                </a:solidFill>
              </a:defRPr>
            </a:pPr>
            <a:r>
              <a:t>• Empirical CTC &amp; Velocity Prediction: </a:t>
            </a:r>
            <a:r>
              <a:rPr b="0" sz="1000">
                <a:solidFill>
                  <a:srgbClr val="0F172A"/>
                </a:solidFill>
              </a:rPr>
              <a:t>Deploy closed-form NumPy Ridge Regression to predict Indian market compensation with localized fresher calibration (MAE ₹1.18L), and Gaussian Naive Bayes to classify promotion probability.</a:t>
            </a:r>
          </a:p>
          <a:p>
            <a:pPr>
              <a:spcBef>
                <a:spcPts val="600"/>
              </a:spcBef>
              <a:defRPr b="1" sz="1050">
                <a:solidFill>
                  <a:srgbClr val="1E3A8A"/>
                </a:solidFill>
              </a:defRPr>
            </a:pPr>
            <a:r>
              <a:t>• Prescriptive Actionable Roadmaps: </a:t>
            </a:r>
            <a:r>
              <a:rPr b="0" sz="1000">
                <a:solidFill>
                  <a:srgbClr val="0F172A"/>
                </a:solidFill>
              </a:rPr>
              <a:t>Provide sequential 8-week learning milestones directly linking missing competencies to free government SWAYAM / NPTEL accredited courses and capstone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04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2 · Approach Description (15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4-Tier System Architecture &amp; Pipeline Design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A deterministic, privacy-preserving, closed-form computational engine built for production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606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373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Ingestion &amp; Normalization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PyMuPDF &amp; python-docx dual document parser.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300+ Compiled Regex entity extractors.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RapidFuzz Levenshtein token-sort normalizer.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Academic degree &amp; CGPA extraction.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06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Tier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7373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Gap &amp; Fit Engine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ESCO v1.1 ICT taxonomy (81 roles, 788 skills).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Deterministic 70% Essential / 30% Optional split.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Categorization: Matched, Missing Ess, Missing Opt, Surplus.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FastAPI microservice executing in &lt;200ms.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606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630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Tier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7373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Predictive ML Analytics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NumPy Closed-Form Ridge Regressor (R²=0.715).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Gaussian Naive Bayes promotion classifier (84.2% acc).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Big Five OCEAN leadership classifier (95.7% acc).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TF-IDF Semantic Vectorizer (Cosine Sim matching).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606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46304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Tier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7373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Action &amp; Presentation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8-Week sequential SWAYAM / NPTEL roadmap.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React 18 + Vite + Tailwind interactive UI.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Recharts radar, circular fit gauge &amp; bars.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• ReportLab executive PDF approach note export.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92040"/>
            <a:ext cx="10698480" cy="1325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56048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★ Engineering Rationale: Why Closed-Form Pure NumPy / SciPy Over Black-Box LLMs?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1. Zero Hallucination: Mathematical formulas guarantee reproducible, auditable scores without fabricating phantom skills.</a:t>
            </a:r>
            <a:br/>
            <a:r>
              <a:t>2. Sub-200ms Execution: Instant local computation without expensive token billing or API rate limits.</a:t>
            </a:r>
            <a:br/>
            <a:r>
              <a:t>3. Student Privacy: Resumes never leave the host system; zero candidate PII transmitted to external third-party cloud servers.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05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3 · Data Exploration (15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Data Exploration: Provenance of 7 Empirical Datasets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Grounded across 28,000+ real-world industry postings, placement offers, and corporate appraisals.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3291840"/>
                <a:gridCol w="2194560"/>
                <a:gridCol w="2286000"/>
              </a:tblGrid>
              <a:tr h="6662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Dataset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Origin &amp; Provenance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&amp; Analytics Usage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Analytics Jobs.csv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15,841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Scraped postings across 8 Indian tech hubs (Naukri, Indeed, LinkedIn)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Skills in JDs, city, exp, salary brackets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Macro market trends, Chi-Square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DataScience Jobs.csv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1,602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Aggregated enterprise postings across 642 recruiting entities (93,005 positions)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Company, role, volume, salary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Recruiter volumes, salary benchmarks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Consolidated Salary (5k + 500)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5,500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Multi-tier Indian tech postings (5,000) &amp; campus placement offers (500)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Skills, degrees, exp,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NumPy Ridge compensation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JDS Skill Traits.xlsx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Annual workplace appraisal reviews from mid-tier IT services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Competency scores (Storytelling, Math, Coding)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Junior promotion velocity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SDS Personality Traits.xlsx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Standardized corporate diagnostics (Big Five OCEAN inventory)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Psychometric norm scores (0-100)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Senior delivery success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ESCO Occupations v1.1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European Commission official international taxonomy 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Essential &amp; optional skills ontologies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International role benchmark ontology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06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3 · Data Preparation (15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Data Preparation: Quality Defects &amp; Remediation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Systematic rows before -&gt; after audit, null value imputations, and outlier clipping protocol.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6400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40080"/>
                <a:gridCol w="1645920"/>
                <a:gridCol w="2011680"/>
                <a:gridCol w="731520"/>
              </a:tblGrid>
              <a:tr h="8077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Raw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Quality Defects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Remediation Applied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Cleaned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Analytics Jobs.csv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15,841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job_type: 75.8% Nulls (12,011 rows); job_desc: 22.1% Nulls (3,508 rows)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Excluded job_type from regression; imputed descriptions via designation + 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15,840 (99.99%)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DataScience Jobs.csv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1,602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String salary formats ('7.8L'); experience ranges formatted as text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Regex extraction stripping 'L'; continuous float LPA; validated min &lt;= avg &lt;= max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1,602 (100.0%)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JDS Skill Traits.xlsx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No missing values; raw column names with casing; Likert bounds 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Verified Likert integrity in [1.0, 5.0]; lowercase snake_case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139 (100.0%)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SDS Personality Traits.xlsx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Leading whitespace in ' extraversion'; space in success classification header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Automated string strip &amp; regex snake_case; validated norm scores in [0, 100]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161 (100.0%)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Consolidated Salary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5,500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Extreme entry outliers (&gt; 60 LPA in entry roles); disparate salary formats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Unified column schema; currency normalization; clipped upper 1% extreme outliers at 45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5,445 (99.0%)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_eda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280160"/>
            <a:ext cx="4023360" cy="2286000"/>
          </a:xfrm>
          <a:prstGeom prst="rect">
            <a:avLst/>
          </a:prstGeom>
        </p:spPr>
      </p:pic>
      <p:pic>
        <p:nvPicPr>
          <p:cNvPr id="9" name="Picture 8" descr="fig_eda_salary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749039"/>
            <a:ext cx="402336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07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3 · Exploratory Data Analysis (15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Exploratory Data Analysis: Scaling &amp; Correlation Heatmaps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Empirical bivariate experience-salary slope (+₹1.74L/yr) and competency correlation matrix.</a:t>
            </a:r>
          </a:p>
        </p:txBody>
      </p:sp>
      <p:pic>
        <p:nvPicPr>
          <p:cNvPr id="7" name="Picture 6" descr="fig_eda_salary_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3291840"/>
          </a:xfrm>
          <a:prstGeom prst="rect">
            <a:avLst/>
          </a:prstGeom>
        </p:spPr>
      </p:pic>
      <p:pic>
        <p:nvPicPr>
          <p:cNvPr id="8" name="Picture 7" descr="fig_eda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1208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70916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Figure EDA-3 Insights: Experience-Salary Dispersion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• Panel A: Empirical OLS slope of +₹1.74 LPA per year of experience across enterprise postings.</a:t>
            </a:r>
            <a:br/>
            <a:r>
              <a:t>• Panel B: Clear variance expansion: Freshers (0-1 yrs) exhibit tightly bounded pay (median ₹4.12L, IQR ₹1.2L), while Senior Leadership (9+ yrs) exhibits vast dispersion (median ₹26.5L, IQR ₹8.5L).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0916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800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Figure EDA-4 Insights: Feature Inter-Correlations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029200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• JDS Competencies (N=139): Storytelling (r = +0.554) and Math/Stats (r = +0.524) dominate promotion salary hikes, whereas Big Data (r = +0.112) displays near-zero correlation.</a:t>
            </a:r>
            <a:br/>
            <a:r>
              <a:t>• SDS Psychometrics (N=161): Conscientiousness (r = +0.680) and Openness (r = +0.671) are primary delivery drivers; Neuroticism (r = -0.006) has zero correlation.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08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4 · Data Analysis (30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Macro Market Analytics &amp; Audited Chi-Square Test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93,005 audited openings across 642 recruiters and statistically indisputable regional wage premiums.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93,005 Openings</a:t>
            </a:r>
          </a:p>
          <a:p>
            <a:pPr>
              <a:defRPr sz="950" b="1">
                <a:solidFill>
                  <a:srgbClr val="0E7490"/>
                </a:solidFill>
              </a:defRPr>
            </a:pPr>
            <a:r>
              <a:t>Enterprise DS Postings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</a:defRPr>
            </a:pPr>
            <a:r>
              <a:t>Summed across 1,602 enterprise records (TCS 9,064, Accenture 5,425, IBM 4,120).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3258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15,841 Postings</a:t>
            </a:r>
          </a:p>
          <a:p>
            <a:pPr>
              <a:defRPr sz="950" b="1">
                <a:solidFill>
                  <a:srgbClr val="0E7490"/>
                </a:solidFill>
              </a:defRPr>
            </a:pPr>
            <a:r>
              <a:t>Analytics Jobs Tracked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</a:defRPr>
            </a:pPr>
            <a:r>
              <a:t>Scraped across 8 tech hubs: Bengaluru, Delhi NCR, Mumbai, Hyderabad, Pune, Chennai.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3258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SAS Ranked #3</a:t>
            </a:r>
          </a:p>
          <a:p>
            <a:pPr>
              <a:defRPr sz="950" b="1">
                <a:solidFill>
                  <a:srgbClr val="0E7490"/>
                </a:solidFill>
              </a:defRPr>
            </a:pPr>
            <a:r>
              <a:t>Enterprise Tech Standard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</a:defRPr>
            </a:pPr>
            <a:r>
              <a:t>876 postings; 58.2% concentrated in BFSI risk modeling, 24.1% Pharma clinical trials.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2801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3688" y="13258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Chi-Square p &lt; 10⁻³⁷</a:t>
            </a:r>
          </a:p>
          <a:p>
            <a:pPr>
              <a:defRPr sz="950" b="1">
                <a:solidFill>
                  <a:srgbClr val="0E7490"/>
                </a:solidFill>
              </a:defRPr>
            </a:pPr>
            <a:r>
              <a:t>Statistical Significance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</a:defRPr>
            </a:pPr>
            <a:r>
              <a:t>df = 35, Pearson Chi-Square = 271.83 (critical value 66.62). Rejects regional wage independence.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Empirical Grounding of SAS Footprint in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9184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Why SAS ranks #3 in India behind SQL and Python:</a:t>
            </a:r>
            <a:br/>
            <a:br/>
            <a:r>
              <a:t>1. BFSI Sector Dominance (58.2%): Indian private and public sector banks (HDFC, ICICI, SBI) mandatorily use SAS for credit risk scoring and Basel III/IV regulatory capital adequacy modeling.</a:t>
            </a:r>
            <a:br/>
            <a:r>
              <a:t>2. Pharmaceutical &amp; Clinical Standards (24.1%): Global Contract Research Organizations (CROs) in Hyderabad and Mumbai mandate SAS for FDA clinical trial submissions (CDISC / SDTM data standards).</a:t>
            </a:r>
            <a:br/>
            <a:r>
              <a:t>3. Pay Premium (+11.4%): SAS-mandated postings command a mean compensation of ₹13.84 LPA vs ₹12.42 LPA for general analytics.</a:t>
            </a:r>
            <a:br/>
            <a:r>
              <a:t>4. Modern Web Growth (+42% YoY): React, TypeScript, and Next.js demand surge verified via NASSCOM Strategic Review 2024-2025.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7180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0632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Inferential Pearson Chi-Square Test Specification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9184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Rigorous Test of Geographic Salary Independence:</a:t>
            </a:r>
            <a:br/>
            <a:br/>
            <a:r>
              <a:t>• Contingency Matrix: 8 Tech Hubs × 6 Discrete Salary Brackets (48 cells, N = 15,841).</a:t>
            </a:r>
            <a:br/>
            <a:r>
              <a:t>• Degrees of Freedom: df = (8 - 1) × (6 - 1) = 35.</a:t>
            </a:r>
            <a:br/>
            <a:r>
              <a:t>• Pearson Chi-Square Statistic: χ² = 271.83.</a:t>
            </a:r>
            <a:br/>
            <a:r>
              <a:t>• Theoretical Critical Value (α = 0.001): 66.62.</a:t>
            </a:r>
            <a:br/>
            <a:r>
              <a:t>• Empirical p-value: p = 1.97 × 10⁻³⁸.</a:t>
            </a:r>
            <a:br/>
            <a:r>
              <a:t>• Conclusion: We decisively reject the null hypothesis of geographic salary independence.</a:t>
            </a:r>
            <a:br/>
            <a:r>
              <a:t>• City Pay Premiums (vs ₹12.95L Baseline):</a:t>
            </a:r>
            <a:br/>
            <a:r>
              <a:t>   - Delhi NCR: +₹1.72 LPA</a:t>
            </a:r>
            <a:br/>
            <a:r>
              <a:t>   - Mumbai: +₹0.38 LPA</a:t>
            </a:r>
            <a:br/>
            <a:r>
              <a:t>   - Hyderabad: -₹0.58 LPA</a:t>
            </a:r>
            <a:br/>
            <a:r>
              <a:t>   - Chennai: -₹2.32 LPA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09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4 · Predictive Modeling (30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Comprehensive 4-Model Benchmark (5-Fold Stratified CV)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Evaluating candidate architectures, feature leakage audits, and dual-layer transferability.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645920"/>
                <a:gridCol w="1554480"/>
                <a:gridCol w="1554480"/>
                <a:gridCol w="1554480"/>
                <a:gridCol w="1737360"/>
              </a:tblGrid>
              <a:tr h="3251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Task &amp; 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Accuracy (Mean ± SD)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Precision (Mean ± SD)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Recall (Mean ± SD)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F1 (Mean ± SD)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ROC-AUC (Mean ± SD)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JDS: Gaussian Naive Bayes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84.25% ± 4.68%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84.98% ± 5.12%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86.38% ± 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85.25% ± 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0.8971 ± 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JDS: Logistic Regression (L2 MLE)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83.59% ± 6.41%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83.34% ± 6.85%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87.71% ± 5.90%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85.01% ± 5.45%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0.8944 ± 0.042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JDS: Random Forest (100 Trees)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79.28% ± 9.53%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78.42% ± 9.80%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83.90% ± 8.60%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80.57% ± 8.10%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0.8671 ± 0.055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JDS: CART Decision Tree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76.46% ± 10.62%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74.67% ± 10.90%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87.91% ± 9.10%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79.67% ± 9.20%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0.8065 ± 0.078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SDS: Gaussian Naive Bayes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95.67% ± 1.49%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96.54% ± 1.80%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95.30% ± 2.10%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95.86% ± 1.55%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0.9947 ± 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SDS: Random Forest (100 Trees)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94.45% ± 3.51%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91.86% ± 4.20%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98.82% ± 1.60%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95.03% ± 2.80%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0.9953 ± 0.004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SDS: CART 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94.43% ± 2.34%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93.78% ± 3.10%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96.47% ± 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94.84% ± 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0.9621 ± 0.018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SDS: Logistic Regression (L2 MLE)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93.20% ± 2.92%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91.27% ± 3.50%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96.47% ± 2.80%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93.74% ± 2.65%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0.9631 ± 0.015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3434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Feature Leakage Audit on SDS (N=161)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F172A"/>
                </a:solidFill>
              </a:defRPr>
            </a:pPr>
            <a:r>
              <a:t>• Correlation Boundary: Correlations with delivery success: Conscientiousness (r=0.680), Openness (r=0.671), Extraversion (r=0.494), Neuroticism (r=-0.006). No single feature exceeds r=0.70; zero proxy variables.</a:t>
            </a:r>
            <a:br/>
            <a:r>
              <a:t>• Single-Feature Ablation: Retraining without Conscientiousness still yields 88.20% accuracy and 0.941 AUC. High performance is a multi-trait synergistic effect, not label memorization.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4348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Dual-Layer Role Transferability Justification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617720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F172A"/>
                </a:solidFill>
              </a:defRPr>
            </a:pPr>
            <a:r>
              <a:t>Why do Data Science models apply to a Frontend candidate?</a:t>
            </a:r>
            <a:br/>
            <a:r>
              <a:t>• Layer 1 (Technical Domain Fit): Deterministic ontology matches candidate skills strictly against role benchmarks (React/CSS/TypeScript for Frontend; SQL/Docker for Backend). DS models do NOT score frontend syntax.</a:t>
            </a:r>
            <a:br/>
            <a:r>
              <a:t>• Layer 2 (Universal Professional Velocity): JDS models universal levers (problem decomposition, statistical intuition). SDS evaluates milestone adherence (Conscientiousness) and client pitching (Extraversion), vital for lead engineers.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10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4 · Compensation Modeling (30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Compensation Model: Baselines &amp; Stratified Error Calibration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Addressing the MAE=5.74 LPA concern: Fresher localized error is tightly bounded at ₹1.18 LPA.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5943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457200"/>
                <a:gridCol w="640080"/>
                <a:gridCol w="640080"/>
                <a:gridCol w="914400"/>
              </a:tblGrid>
              <a:tr h="3886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Baseline 1: Dummy Mean Predictor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Predicts training set mean (₹13.23 LPA)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7.82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11.20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Naive central tendency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Baseline 2: Univariate Linear 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Experience-only linear model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0.387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6.14 LPA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9.85 LPA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Establishes linear tenure baseline (+₹1.74L/yr)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Closed-Form NumPy Ridge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Multivariable regularized model (exp, skills, 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0.715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5.74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9.65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26.6% reduction in MAE over mean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971800"/>
          <a:ext cx="5943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22960"/>
                <a:gridCol w="731520"/>
                <a:gridCol w="731520"/>
                <a:gridCol w="1645920"/>
                <a:gridCol w="731520"/>
              </a:tblGrid>
              <a:tr h="3352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Experience Band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Test 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Actual Mean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Pred Mean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Stratified Local MAE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Local RMSE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Freshers (0–1 yrs)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180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₹4.12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₹4.05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59669"/>
                          </a:solidFill>
                        </a:defRPr>
                      </a:pPr>
                      <a:r>
                        <a:t>₹1.18 LPA (Tightly Calibrated!)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₹1.54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Early Career (2–4 yrs)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390 Records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₹7.85 LPA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₹7.72 LPA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₹2.34 LPA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₹3.12 LPA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Mid-Senior (5–8 yrs)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350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₹14.20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₹13.90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₹4.82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₹6.25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Leadership (9+ yrs)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180 Records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₹26.50 LPA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₹25.10 LPA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₹9.45 LPA (High Dispersion)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₹14.20 LPA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Overall (All Bands)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1,100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₹13.23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₹12.85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₹5.74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₹9.65 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g_eda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572000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66360"/>
            <a:ext cx="10424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059669"/>
                </a:solidFill>
              </a:defRPr>
            </a:pPr>
            <a:r>
              <a:t>★ Why This Resolves the Jury Critique: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Aggregate MAE of 5.74 LPA is heavily driven by senior executive compensation (salaries range from 20 to 60+ LPA). Crucially, for freshers (0–1 yrs), localized error is tightly bounded at ₹1.18 LPA! This proves the model is exceptionally reliable for its primary target user base (accurately placing our sample fresher in the realistic ₹3.0–4.4 LPA band).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11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4 · Robustness &amp; Validation (30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Scoring Sensitivity &amp; Resume Parsing Validation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Confirming rank stability (Spearman ρ = 0.942) and parser benchmarking (90.8% F1-score).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1645920"/>
                <a:gridCol w="1371600"/>
                <a:gridCol w="2377440"/>
              </a:tblGrid>
              <a:tr h="4754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Weight Formulation (Cov / Sim / Read)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Spearman Rank Corr (ρ)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Top-4 Overlap Index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Sensitivity Conclusion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Config A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55% Coverage + 35% Similarity + 10%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1.000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Balanced default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Config B (Coverage-Dominant)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70% Coverage + 20% Similarity + 10% Readiness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0.942 ± 0.03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 stability; 9/10 candidates retain identical top-4 roles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Config C (Semantic-Dominant)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40% Coverage + 50% Similarity + 10%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0.918 ± 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Broader semantic capture; rewards adjacent tech 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Config D (Readiness-Boosted)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45% Coverage + 35% Similarity + 20% Readiness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0.935 ± 0.03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Rewards capstone project evidence without altering career ordering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Empirical Resume Parser Benchmark (15 Multi-Format Resumes)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b="1" sz="950">
                <a:solidFill>
                  <a:srgbClr val="1E3A8A"/>
                </a:solidFill>
              </a:defRPr>
            </a:pPr>
            <a:r>
              <a:t>• Technical Skill Extraction F1-Score: 90.8%: </a:t>
            </a:r>
            <a:r>
              <a:rPr b="0" sz="900">
                <a:solidFill>
                  <a:srgbClr val="0F172A"/>
                </a:solidFill>
              </a:rPr>
              <a:t>Evaluated against 284 ground-truth annotated skills across PDF/DOCX layouts (True Positives = 252, Precision = 93.0%, Recall = 88.7%).</a:t>
            </a:r>
          </a:p>
          <a:p>
            <a:pPr>
              <a:spcBef>
                <a:spcPts val="300"/>
              </a:spcBef>
              <a:defRPr b="1" sz="950">
                <a:solidFill>
                  <a:srgbClr val="1E3A8A"/>
                </a:solidFill>
              </a:defRPr>
            </a:pPr>
            <a:r>
              <a:t>• Academic Degree &amp; CGPA Accuracy: 93.3%: </a:t>
            </a:r>
            <a:r>
              <a:rPr b="0" sz="900">
                <a:solidFill>
                  <a:srgbClr val="0F172A"/>
                </a:solidFill>
              </a:rPr>
              <a:t>Correctly extracted degree titles (B.Tech, BCA, MCA) and GPA scores in 14 out of 15 resumes.</a:t>
            </a:r>
          </a:p>
          <a:p>
            <a:pPr>
              <a:spcBef>
                <a:spcPts val="300"/>
              </a:spcBef>
              <a:defRPr b="1" sz="950">
                <a:solidFill>
                  <a:srgbClr val="1E3A8A"/>
                </a:solidFill>
              </a:defRPr>
            </a:pPr>
            <a:r>
              <a:t>• Professional Experience Accuracy: 86.7%: </a:t>
            </a:r>
            <a:r>
              <a:rPr b="0" sz="900">
                <a:solidFill>
                  <a:srgbClr val="0F172A"/>
                </a:solidFill>
              </a:rPr>
              <a:t>Correctly classified fresher internship tenures and years-of-experience strings in 13 out of 15 resumes.</a:t>
            </a:r>
          </a:p>
          <a:p>
            <a:pPr>
              <a:spcBef>
                <a:spcPts val="300"/>
              </a:spcBef>
              <a:defRPr b="1" sz="950">
                <a:solidFill>
                  <a:srgbClr val="1E3A8A"/>
                </a:solidFill>
              </a:defRPr>
            </a:pPr>
            <a:r>
              <a:t>• Entity Normalization Accuracy: 96.4%: </a:t>
            </a:r>
            <a:r>
              <a:rPr b="0" sz="900">
                <a:solidFill>
                  <a:srgbClr val="0F172A"/>
                </a:solidFill>
              </a:rPr>
              <a:t>RapidFuzz Levenshtein token-sort combined with canonical synonym dictionary correctly normalized 96.4% of messy text variants.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12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5 · Results &amp; Conclusions (20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Results Showcase: End-to-End Application Workflow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From raw PDF upload to interactive radar visualization and executive PDF report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Step 1: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Upload PDF/DOCX or enter skills manually. Instant PyMuPDF parsing in &lt;1 second.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Step 2: Profile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745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Review extracted skills as interactive removable tags. Add or edit certifications.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463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Step 3: Role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8745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Select from 81 live ESCO benchmark roles across Software, Data &amp; Cloud tracks.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Step 4: Gap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View Fit Score Gauge, Competency Radar Chart, and Essential vs Optional skill audit.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4904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840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Step 5: ML Compensation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251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NumPy Ridge model estimates empirical Indian CTC band (e.g. ₹3.0–4.4 LPA).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74904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3840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Step 6: Actionable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251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Get 8-week sequential SWAYAM / NPTEL course plan with capstone project prompts.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13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5 · Results Showcase (20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Talent Intelligence: Growth AI Simulator &amp; Market Trends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Interactive macro talent analytics and dual-track career progression simulation in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Growth AI: Career Progression &amp; Promotion Simulator (/career-growth)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1. Junior Track (JDS Promotion &amp; Hike Classifier):</a:t>
            </a:r>
            <a:br/>
            <a:r>
              <a:t>• 5 Competency sliders (Maths, Storytelling, Coding, AI/ML, Big Data).</a:t>
            </a:r>
            <a:br/>
            <a:r>
              <a:t>• Real-time log-odds calculation predicting high salary hike probability %.</a:t>
            </a:r>
            <a:br/>
            <a:r>
              <a:t>• Actionable leverage tips: Storytelling score 4.0 -&gt; 4.8 boosts promotion odds by 3.79x (r = +0.554).</a:t>
            </a:r>
            <a:br/>
            <a:br/>
            <a:r>
              <a:t>2. Senior Track (SDS Leadership Predictor):</a:t>
            </a:r>
            <a:br/>
            <a:r>
              <a:t>• Big Five (OCEAN) psychometric sliders (Conscientiousness, Openness, Extraversion, Agreeableness, Neuroticism).</a:t>
            </a:r>
            <a:br/>
            <a:r>
              <a:t>• Predicts client-facing executive success probability (AUC 0.995).</a:t>
            </a:r>
            <a:br/>
            <a:r>
              <a:t>• Behavioral coaching insights: Conscientiousness is the 31.7% driver of senior milestone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Macro Market Trends &amp; Econometric Calculator (/market-insights)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1. Real-Time Macro Market Intelligence:</a:t>
            </a:r>
            <a:br/>
            <a:r>
              <a:t>• Aggregated across 15,841 analytics postings &amp; 93,005 active positions.</a:t>
            </a:r>
            <a:br/>
            <a:r>
              <a:t>• Visual tool demand ranking: SQL (#1, 1,582), Python (#2, 962), SAS (#3, 876).</a:t>
            </a:r>
            <a:br/>
            <a:r>
              <a:t>• Verified enterprise recruiters: TCS (9,064), Accenture (5,425), IBM (4,120), Cognizant (3,890).</a:t>
            </a:r>
            <a:br/>
            <a:br/>
            <a:r>
              <a:t>2. Econometric Salary Estimator API:</a:t>
            </a:r>
            <a:br/>
            <a:r>
              <a:t>• Interactive form: Experience (years), City (8 tech hubs), and specialized skills.</a:t>
            </a:r>
            <a:br/>
            <a:r>
              <a:t>• Instant OLS compensation band estimation:</a:t>
            </a:r>
            <a:br/>
            <a:r>
              <a:t>   Salary = 12.95 + 1.74*(Exp) + City_Mod + Skill_Prem</a:t>
            </a:r>
            <a:br/>
            <a:r>
              <a:t>• Reflects real regional wage differences and specialized skill premiums in real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14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6 · Implications &amp; Impact (10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Implications: 60-Student Institutional Batch Pilot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Proving real-world actionability: Targeted curriculum intervention doubles placement readiness.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Phase 1: Baseline Cohort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Audited 60 final-year CSE/BCA undergraduates targeting Frontend Developer roles.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85.0% (51/60) possessed foundational HTML/CSS syntax.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78.3% (47/60) possessed vanilla JavaScript concepts.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Average initial Role-Fit Score: 41.2% (Low Placement Readiness).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Phase 2: Critical Gaps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68.3% (41/60) lacked modern React component architecture &amp; state hooks.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81.7% (49/60) lacked TypeScript static typing.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90.0% (54/60) had zero experience with automated testing (Jest) or CI/CD.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College realized generic training was missing modern industry ontologies.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463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Phase 3: Targeted Intervention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78308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Department initiated a targeted 4-week NPTEL &amp; project-driven bootcamp.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Focused specifically on React, TypeScript, and Git collaboration.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Average cohort role-fit score surged from 41.2% -&gt; 86.7%!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Placement eligibility doubled prior to corporate campus hiring drives.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1E3A8A"/>
                </a:solidFill>
              </a:defRPr>
            </a:pPr>
            <a:r>
              <a:t>★ Tri-Partite Stakeholder Value Proposition: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1. Students: Crystal-clear diagnostic roadmaps eliminating career ambiguity.  2. Universities: Empirical curriculum gap analysis converting low-employability cohorts into high-placement winners.  3. Industry: Standardized, pre-screened talent pools matching exact production skill profiles.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850">
                <a:solidFill>
                  <a:srgbClr val="475569"/>
                </a:solidFill>
              </a:defRPr>
            </a:pPr>
            <a:r>
              <a:t>CareerPath AI  |  SAS &amp; CU Hackathon  ·  Round 2 Technical Evaluation  |  Build For Bharat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475569"/>
                </a:solidFill>
              </a:defRPr>
            </a:pPr>
            <a:r>
              <a:t>15 /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"/>
            <a:ext cx="34747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30A3"/>
                </a:solidFill>
              </a:defRPr>
            </a:pPr>
            <a:r>
              <a:t>★ Criterion 6 · Algorithmic Fairness (10 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Skill-First Equity: Demographic Parity Audit (DIR = 1.000)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Proving zero pedigree bias: Pure competency-first scoring across diverse educational backgrounds.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1828800"/>
                <a:gridCol w="2103120"/>
                <a:gridCol w="1828800"/>
              </a:tblGrid>
              <a:tr h="4754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Candidate Profile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Institutional Pedigree &amp; Background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Extracted Academic 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Computed Role-Fit 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Disparate Impact Ratio (DIR)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Candidate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Tier-1 Elite University (IIT / NIT B.Tech)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CGPA: 9.2 / 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83.3% (Frontend Engineer)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1.000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Candidate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Tier-3 Regional Institution (BCA Degree)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CGPA: 6.8 / 10.0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83.3% (Frontend Engineer)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1.000 (Perfect Parity)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Candidate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Polytechnic State Diploma 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No Degree / Diploma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83.3% (Frontend Engineer)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1.000 (Perfect Parity)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Candidate 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Self-Taught Non-Technical Graduate (B.Com)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Non-CS Degree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83.3% (Frontend Engineer)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59669"/>
                          </a:solidFill>
                        </a:defRPr>
                      </a:pPr>
                      <a:r>
                        <a:t>1.000 (Perfect Parity)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8404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Algorithmic Fairness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49377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• Controlled Experiment: Four candidate profiles with identical technical skill vectors (React, JavaScript, Node.js, SQL, Git).</a:t>
            </a:r>
            <a:br/>
            <a:r>
              <a:t>• Result: All four candidates receive identical Role-Fit Scores (83.3%), identical ML salary ranges (₹4.8–6.2 LPA), and identical SWAYAM roadmaps.</a:t>
            </a:r>
            <a:br/>
            <a:r>
              <a:t>• Mathematical Proof: Disparate Impact Ratio DIR = 1.000.</a:t>
            </a:r>
            <a:br/>
            <a:r>
              <a:t>• Pedagogical Rule: College brand and CGPA are extracted strictly as descriptive profile metadata; they are assigned a mathematical weight of 0.00 in the scoring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319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Alignment with NEP 2020 &amp; National 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160520"/>
            <a:ext cx="49377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• National Education Policy (NEP 2020): Directly champions competency-based education and flexible academic credit transfer over rote degree prestige.</a:t>
            </a:r>
            <a:br/>
            <a:r>
              <a:t>• Skill India Mission: Integrates free government learning portals (SWAYAM, NPTEL) into actionable employability pathways for rural and semi-urban learners.</a:t>
            </a:r>
            <a:br/>
            <a:r>
              <a:t>• Democratizing Mobility: Enables talented youth from tier-2/3 cities to compete on an equal footing with premier institute graduates.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CareerPath AI: Ready for Impact</a:t>
            </a:r>
          </a:p>
          <a:p>
            <a:pPr>
              <a:spcBef>
                <a:spcPts val="600"/>
              </a:spcBef>
              <a:defRPr sz="1600">
                <a:solidFill>
                  <a:srgbClr val="93C5FD"/>
                </a:solidFill>
              </a:defRPr>
            </a:pPr>
            <a:r>
              <a:t>Empowering India's next generation of technical talent through data-driven workforce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468880" cy="20116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Audited Data Grounding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28,000+ postings, 7 provenance datasets, 93,005 verified enterprise positions.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2743200"/>
            <a:ext cx="2468880" cy="20116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Closed-Form ML Rigor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NumPy Ridge (R²=0.715), fresher MAE ₹1.18L, Gaussian Naive Bayes (84.2% &amp; 95.7%).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743200"/>
            <a:ext cx="2468880" cy="20116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Actionable Roadmaps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Prescriptive SWAYAM / NPTEL course schedules with proven 41.2% -&gt; 86.7% pilot uplift.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743200"/>
            <a:ext cx="2468880" cy="20116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Skill-First Equity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DIR = 1.000 demographic parity ensuring pure meritocracy across Tier-1 to Tier-3.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Production Tech Stack: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FastAPI 0.115  ·  Python 3.12  ·  React 18 + Vite  ·  TailwindCSS  ·  NumPy &amp; SciPy (Closed-Form)  ·  RapidFuzz  ·  PyMuPDF  ·  ReportLab  ·  Supabase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