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840E4F-AFC4-49B9-B33F-5D147A63F135}" v="3" dt="2026-10-07T07:28:20.4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shmiroy2004@outlook.com" userId="9b262ceecccdb4c8" providerId="LiveId" clId="{9DE611EF-83A3-4266-B8CA-B23D7C9EA60E}"/>
    <pc:docChg chg="undo custSel delSld modSld">
      <pc:chgData name="rashmiroy2004@outlook.com" userId="9b262ceecccdb4c8" providerId="LiveId" clId="{9DE611EF-83A3-4266-B8CA-B23D7C9EA60E}" dt="2026-10-07T07:29:55.947" v="323" actId="1035"/>
      <pc:docMkLst>
        <pc:docMk/>
      </pc:docMkLst>
      <pc:sldChg chg="addSp delSp modSp mod">
        <pc:chgData name="rashmiroy2004@outlook.com" userId="9b262ceecccdb4c8" providerId="LiveId" clId="{9DE611EF-83A3-4266-B8CA-B23D7C9EA60E}" dt="2026-10-07T07:29:55.947" v="323" actId="1035"/>
        <pc:sldMkLst>
          <pc:docMk/>
          <pc:sldMk cId="0" sldId="256"/>
        </pc:sldMkLst>
        <pc:spChg chg="mod">
          <ac:chgData name="rashmiroy2004@outlook.com" userId="9b262ceecccdb4c8" providerId="LiveId" clId="{9DE611EF-83A3-4266-B8CA-B23D7C9EA60E}" dt="2026-10-07T07:28:19.801" v="240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8:00:04.036" v="161" actId="107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7:56:52.090" v="34" actId="20577"/>
          <ac:spMkLst>
            <pc:docMk/>
            <pc:sldMk cId="0" sldId="256"/>
            <ac:spMk id="13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7:57:01.819" v="50" actId="20577"/>
          <ac:spMkLst>
            <pc:docMk/>
            <pc:sldMk cId="0" sldId="256"/>
            <ac:spMk id="15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7:57:15.514" v="71" actId="20577"/>
          <ac:spMkLst>
            <pc:docMk/>
            <pc:sldMk cId="0" sldId="256"/>
            <ac:spMk id="18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7:59:37.948" v="147" actId="1076"/>
          <ac:spMkLst>
            <pc:docMk/>
            <pc:sldMk cId="0" sldId="256"/>
            <ac:spMk id="19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7:58:19.042" v="127" actId="1076"/>
          <ac:spMkLst>
            <pc:docMk/>
            <pc:sldMk cId="0" sldId="256"/>
            <ac:spMk id="21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7:58:09.652" v="125" actId="1076"/>
          <ac:spMkLst>
            <pc:docMk/>
            <pc:sldMk cId="0" sldId="256"/>
            <ac:spMk id="22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10-07T07:29:37.230" v="279" actId="207"/>
          <ac:spMkLst>
            <pc:docMk/>
            <pc:sldMk cId="0" sldId="256"/>
            <ac:spMk id="23" creationId="{00000000-0000-0000-0000-000000000000}"/>
          </ac:spMkLst>
        </pc:spChg>
        <pc:spChg chg="add mod">
          <ac:chgData name="rashmiroy2004@outlook.com" userId="9b262ceecccdb4c8" providerId="LiveId" clId="{9DE611EF-83A3-4266-B8CA-B23D7C9EA60E}" dt="2026-09-25T17:57:43.718" v="122" actId="1036"/>
          <ac:spMkLst>
            <pc:docMk/>
            <pc:sldMk cId="0" sldId="256"/>
            <ac:spMk id="25" creationId="{5167DDEF-D725-BD42-FBFC-0C19917B1FB6}"/>
          </ac:spMkLst>
        </pc:spChg>
        <pc:spChg chg="add mod">
          <ac:chgData name="rashmiroy2004@outlook.com" userId="9b262ceecccdb4c8" providerId="LiveId" clId="{9DE611EF-83A3-4266-B8CA-B23D7C9EA60E}" dt="2026-10-07T07:29:55.947" v="323" actId="1035"/>
          <ac:spMkLst>
            <pc:docMk/>
            <pc:sldMk cId="0" sldId="256"/>
            <ac:spMk id="26" creationId="{110A6491-C4F9-59A4-8131-254FA28F1F7A}"/>
          </ac:spMkLst>
        </pc:spChg>
      </pc:sldChg>
      <pc:sldChg chg="modSp mod">
        <pc:chgData name="rashmiroy2004@outlook.com" userId="9b262ceecccdb4c8" providerId="LiveId" clId="{9DE611EF-83A3-4266-B8CA-B23D7C9EA60E}" dt="2026-09-25T18:02:46.179" v="237" actId="1076"/>
        <pc:sldMkLst>
          <pc:docMk/>
          <pc:sldMk cId="0" sldId="261"/>
        </pc:sldMkLst>
        <pc:spChg chg="mod">
          <ac:chgData name="rashmiroy2004@outlook.com" userId="9b262ceecccdb4c8" providerId="LiveId" clId="{9DE611EF-83A3-4266-B8CA-B23D7C9EA60E}" dt="2026-09-25T18:02:25.588" v="231" actId="1076"/>
          <ac:spMkLst>
            <pc:docMk/>
            <pc:sldMk cId="0" sldId="261"/>
            <ac:spMk id="10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8:02:29.060" v="232" actId="1076"/>
          <ac:spMkLst>
            <pc:docMk/>
            <pc:sldMk cId="0" sldId="261"/>
            <ac:spMk id="15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8:02:32.625" v="233" actId="1076"/>
          <ac:spMkLst>
            <pc:docMk/>
            <pc:sldMk cId="0" sldId="261"/>
            <ac:spMk id="20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8:02:46.179" v="237" actId="1076"/>
          <ac:spMkLst>
            <pc:docMk/>
            <pc:sldMk cId="0" sldId="261"/>
            <ac:spMk id="25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8:02:35.470" v="234" actId="1076"/>
          <ac:spMkLst>
            <pc:docMk/>
            <pc:sldMk cId="0" sldId="261"/>
            <ac:spMk id="32" creationId="{00000000-0000-0000-0000-000000000000}"/>
          </ac:spMkLst>
        </pc:spChg>
        <pc:spChg chg="mod">
          <ac:chgData name="rashmiroy2004@outlook.com" userId="9b262ceecccdb4c8" providerId="LiveId" clId="{9DE611EF-83A3-4266-B8CA-B23D7C9EA60E}" dt="2026-09-25T18:02:39.348" v="235" actId="1076"/>
          <ac:spMkLst>
            <pc:docMk/>
            <pc:sldMk cId="0" sldId="261"/>
            <ac:spMk id="35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Users (K)</c:v>
                </c:pt>
              </c:strCache>
            </c:strRef>
          </c:tx>
          <c:spPr>
            <a:solidFill>
              <a:srgbClr val="3B82F6"/>
            </a:solidFill>
          </c:spPr>
          <c:invertIfNegative val="1"/>
          <c:cat>
            <c:strRef>
              <c:f>Sheet1!$A$2:$A$6</c:f>
              <c:strCache>
                <c:ptCount val="5"/>
                <c:pt idx="0">
                  <c:v>Month 1</c:v>
                </c:pt>
                <c:pt idx="1">
                  <c:v>Month 3</c:v>
                </c:pt>
                <c:pt idx="2">
                  <c:v>Month 6</c:v>
                </c:pt>
                <c:pt idx="3">
                  <c:v>Month 9</c:v>
                </c:pt>
                <c:pt idx="4">
                  <c:v>Month 12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8</c:v>
                </c:pt>
                <c:pt idx="2">
                  <c:v>18</c:v>
                </c:pt>
                <c:pt idx="3">
                  <c:v>32</c:v>
                </c:pt>
                <c:pt idx="4">
                  <c:v>50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482-4C43-9E4B-741076339C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832" y="0"/>
            <a:ext cx="12191695" cy="6858000"/>
          </a:xfrm>
          <a:prstGeom prst="rect">
            <a:avLst/>
          </a:prstGeom>
          <a:solidFill>
            <a:srgbClr val="1E3A5F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3B82F6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743200" cy="2743200"/>
          </a:xfrm>
          <a:prstGeom prst="ellipse">
            <a:avLst/>
          </a:prstGeom>
          <a:solidFill>
            <a:srgbClr val="3B82F6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058400" y="5029200"/>
            <a:ext cx="2286000" cy="2286000"/>
          </a:xfrm>
          <a:prstGeom prst="ellipse">
            <a:avLst/>
          </a:prstGeom>
          <a:solidFill>
            <a:srgbClr val="3B82F6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CareerPath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>
                <a:solidFill>
                  <a:srgbClr val="93C5FD"/>
                </a:solidFill>
              </a:defRPr>
            </a:pPr>
            <a:r>
              <a:t>AI-Powered Skill Gap Analysis &amp; Career Intelligence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34640"/>
            <a:ext cx="27432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4400" y="3108960"/>
            <a:ext cx="5029200" cy="45720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93C5FD"/>
                </a:solidFill>
              </a:defRPr>
            </a:pPr>
            <a:r>
              <a:t>🏆  Problem: Intelligent Talent &amp; Workforce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BFDBFE"/>
                </a:solidFill>
              </a:defRPr>
            </a:pPr>
            <a:r>
              <a:t>Build For Bharat 2.0  ·  September 25,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19" y="2750771"/>
            <a:ext cx="3840480" cy="3474720"/>
          </a:xfrm>
          <a:prstGeom prst="roundRect">
            <a:avLst/>
          </a:prstGeom>
          <a:solidFill>
            <a:srgbClr val="1E2D4A"/>
          </a:solidFill>
          <a:ln w="12700">
            <a:solidFill>
              <a:srgbClr val="33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 b="1" dirty="0"/>
          </a:p>
        </p:txBody>
      </p:sp>
      <p:sp>
        <p:nvSpPr>
          <p:cNvPr id="12" name="TextBox 11"/>
          <p:cNvSpPr txBox="1"/>
          <p:nvPr/>
        </p:nvSpPr>
        <p:spPr>
          <a:xfrm>
            <a:off x="7955279" y="28803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200400"/>
            <a:ext cx="116839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lang="en-US" dirty="0"/>
              <a:t>code4sure</a:t>
            </a:r>
            <a:endParaRPr dirty="0"/>
          </a:p>
        </p:txBody>
      </p:sp>
      <p:sp>
        <p:nvSpPr>
          <p:cNvPr id="14" name="Oval 13"/>
          <p:cNvSpPr/>
          <p:nvPr/>
        </p:nvSpPr>
        <p:spPr>
          <a:xfrm>
            <a:off x="8092440" y="38587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3776472"/>
            <a:ext cx="85311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rPr lang="en-US" dirty="0"/>
              <a:t>Prem Roy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8321040" y="3995928"/>
            <a:ext cx="3108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3C5FD"/>
                </a:solidFill>
              </a:defRPr>
            </a:pPr>
            <a:r>
              <a:t>Full Stack Developer</a:t>
            </a:r>
          </a:p>
        </p:txBody>
      </p:sp>
      <p:sp>
        <p:nvSpPr>
          <p:cNvPr id="17" name="Oval 16"/>
          <p:cNvSpPr/>
          <p:nvPr/>
        </p:nvSpPr>
        <p:spPr>
          <a:xfrm>
            <a:off x="8092440" y="436168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4279392"/>
            <a:ext cx="114967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rPr lang="en-US" dirty="0"/>
              <a:t>Aryan </a:t>
            </a:r>
            <a:r>
              <a:rPr lang="en-US" dirty="0" err="1"/>
              <a:t>Vishnoi</a:t>
            </a:r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8312905" y="4536757"/>
            <a:ext cx="3108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3C5FD"/>
                </a:solidFill>
              </a:defRPr>
            </a:pPr>
            <a:r>
              <a:rPr dirty="0"/>
              <a:t>ML / NLP Engineer</a:t>
            </a:r>
          </a:p>
        </p:txBody>
      </p:sp>
      <p:sp>
        <p:nvSpPr>
          <p:cNvPr id="20" name="Oval 19"/>
          <p:cNvSpPr/>
          <p:nvPr/>
        </p:nvSpPr>
        <p:spPr>
          <a:xfrm>
            <a:off x="8092440" y="486460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1122" y="4773834"/>
            <a:ext cx="124950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rPr lang="en-US" dirty="0"/>
              <a:t>Vansh Chauhan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8312905" y="5029200"/>
            <a:ext cx="3108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3C5FD"/>
                </a:solidFill>
              </a:defRPr>
            </a:pPr>
            <a:r>
              <a:rPr dirty="0"/>
              <a:t>UI / UX Designer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9794" y="5240889"/>
            <a:ext cx="1239442" cy="8002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3C5FD"/>
                </a:solidFill>
              </a:defRPr>
            </a:pPr>
            <a:r>
              <a:rPr lang="en-US" sz="1300" b="1" dirty="0">
                <a:solidFill>
                  <a:schemeClr val="bg1"/>
                </a:solidFill>
              </a:rPr>
              <a:t>Isha </a:t>
            </a:r>
            <a:r>
              <a:rPr lang="en-US" sz="1300" b="1" dirty="0" err="1">
                <a:solidFill>
                  <a:schemeClr val="bg1"/>
                </a:solidFill>
              </a:rPr>
              <a:t>Vishnoi</a:t>
            </a:r>
            <a:endParaRPr lang="en-US" sz="1300" b="1" dirty="0">
              <a:solidFill>
                <a:schemeClr val="bg1"/>
              </a:solidFill>
            </a:endParaRPr>
          </a:p>
          <a:p>
            <a:pPr>
              <a:defRPr sz="1000">
                <a:solidFill>
                  <a:srgbClr val="93C5FD"/>
                </a:solidFill>
              </a:defRPr>
            </a:pPr>
            <a:r>
              <a:rPr lang="en-US" sz="1000" dirty="0">
                <a:solidFill>
                  <a:schemeClr val="accent5"/>
                </a:solidFill>
              </a:rPr>
              <a:t>Full Stack Developer</a:t>
            </a:r>
          </a:p>
          <a:p>
            <a:pPr>
              <a:defRPr sz="1000">
                <a:solidFill>
                  <a:srgbClr val="93C5FD"/>
                </a:solidFill>
              </a:defRPr>
            </a:pPr>
            <a:r>
              <a:rPr lang="en-US" sz="1000" dirty="0">
                <a:solidFill>
                  <a:schemeClr val="accent5"/>
                </a:solidFill>
              </a:rPr>
              <a:t> </a:t>
            </a:r>
            <a:r>
              <a:rPr lang="en-US" sz="1300" b="1" dirty="0">
                <a:solidFill>
                  <a:schemeClr val="bg1"/>
                </a:solidFill>
              </a:rPr>
              <a:t>Sonal</a:t>
            </a:r>
          </a:p>
          <a:p>
            <a:pPr>
              <a:defRPr sz="1000">
                <a:solidFill>
                  <a:srgbClr val="93C5FD"/>
                </a:solidFill>
              </a:defRPr>
            </a:pPr>
            <a:r>
              <a:rPr lang="en-US" sz="1000" dirty="0">
                <a:solidFill>
                  <a:schemeClr val="accent1"/>
                </a:solidFill>
              </a:rPr>
              <a:t>Full stack Developer</a:t>
            </a:r>
            <a:endParaRPr sz="1000" dirty="0">
              <a:solidFill>
                <a:schemeClr val="accent1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167DDEF-D725-BD42-FBFC-0C19917B1FB6}"/>
              </a:ext>
            </a:extLst>
          </p:cNvPr>
          <p:cNvSpPr/>
          <p:nvPr/>
        </p:nvSpPr>
        <p:spPr>
          <a:xfrm>
            <a:off x="8097356" y="533164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10A6491-C4F9-59A4-8131-254FA28F1F7A}"/>
              </a:ext>
            </a:extLst>
          </p:cNvPr>
          <p:cNvSpPr/>
          <p:nvPr/>
        </p:nvSpPr>
        <p:spPr>
          <a:xfrm>
            <a:off x="8092443" y="5690523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4747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475569"/>
                </a:solidFill>
              </a:defRPr>
            </a:pPr>
            <a:r>
              <a:t>CareerPath AI  |  Build For Bharat 2.0  | 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2/13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22860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2103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C2626"/>
                </a:solidFill>
              </a:defRPr>
            </a:pPr>
            <a:r>
              <a:t>1.5M+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Engineering graduates</a:t>
            </a:r>
            <a:br/>
            <a:r>
              <a:t>per year in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188720"/>
            <a:ext cx="22860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280160"/>
            <a:ext cx="2103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A580C"/>
                </a:solidFill>
              </a:defRPr>
            </a:pPr>
            <a: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Remain unemployed or</a:t>
            </a:r>
            <a:br/>
            <a:r>
              <a:t>underemployed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188720"/>
            <a:ext cx="22860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0" y="1280160"/>
            <a:ext cx="2103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3A8A"/>
                </a:solidFill>
              </a:defRPr>
            </a:pPr>
            <a: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783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Reason: Skill mismatch</a:t>
            </a:r>
            <a:br/>
            <a:r>
              <a:t>with industry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606040"/>
            <a:ext cx="329184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9808" y="2624328"/>
            <a:ext cx="3255264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27432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❓ Students Don't Know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063240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Which roles match their current skills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What critical skills they're missing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How to close the gap effectively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Where to start their career journey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2606040"/>
            <a:ext cx="347472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5968" y="2624328"/>
            <a:ext cx="3438144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3484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⚠️ Current Solutions Fall 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063240"/>
            <a:ext cx="3200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Internshala → Job listings, no skill assessment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LinkedIn → Built for professionals, not students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Coursera → Courses, but no personalized roadmap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Naukri → Listings only, no guidance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606040"/>
            <a:ext cx="3474720" cy="182880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0" y="274320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🔍 THE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1089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No platform tells students:</a:t>
            </a:r>
          </a:p>
          <a:p>
            <a:pPr>
              <a:spcBef>
                <a:spcPts val="800"/>
              </a:spcBef>
              <a:defRPr sz="1200" b="1" i="1">
                <a:solidFill>
                  <a:srgbClr val="1E3A8A"/>
                </a:solidFill>
              </a:defRPr>
            </a:pPr>
            <a:r>
              <a:t>"You're ready for X role, but need to learn Y and Z first"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754880"/>
            <a:ext cx="31089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8463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8920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Wasted time applying</a:t>
            </a:r>
            <a:br/>
            <a:r>
              <a:t>to wrong roles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6240" y="4754880"/>
            <a:ext cx="31089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43400" y="48463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48920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Lost confidence from</a:t>
            </a:r>
            <a:br/>
            <a:r>
              <a:t>repeated rejections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4754880"/>
            <a:ext cx="31089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18120" y="48463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8920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Employers can't find</a:t>
            </a:r>
            <a:br/>
            <a:r>
              <a:t>ready-to-hire talent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4747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Our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475569"/>
                </a:solidFill>
              </a:defRPr>
            </a:pPr>
            <a:r>
              <a:t>CareerPath AI  |  Build For Bharat 2.0  | 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3/13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10698480" cy="73152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E3A8A"/>
                </a:solidFill>
              </a:defRPr>
            </a:pPr>
            <a:r>
              <a:t>💡  "Upload your resume, get a skill gap analysis, and receive a week-by-week learning roadmap to become job-ready in your best-fit role."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48840"/>
            <a:ext cx="192024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417320" y="228600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880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4612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Resume or</a:t>
            </a:r>
            <a:br/>
            <a:r>
              <a:t>enter skills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1760" y="2880360"/>
            <a:ext cx="320040" cy="228600"/>
          </a:xfrm>
          <a:prstGeom prst="right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971800" y="2148840"/>
            <a:ext cx="192024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657600" y="228600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880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24612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Extract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5204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AI identifies</a:t>
            </a:r>
            <a:br/>
            <a:r>
              <a:t>your skills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92040" y="2880360"/>
            <a:ext cx="320040" cy="228600"/>
          </a:xfrm>
          <a:prstGeom prst="right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212080" y="2148840"/>
            <a:ext cx="192024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897880" y="228600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2880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24612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Compare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35204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Match against</a:t>
            </a:r>
            <a:br/>
            <a:r>
              <a:t>7 roles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132320" y="2880360"/>
            <a:ext cx="320040" cy="228600"/>
          </a:xfrm>
          <a:prstGeom prst="right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452360" y="2148840"/>
            <a:ext cx="192024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138160" y="228600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880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🗺️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324612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Roadmap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5204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4-week plan</a:t>
            </a:r>
            <a:br/>
            <a:r>
              <a:t>with courses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372600" y="2880360"/>
            <a:ext cx="320040" cy="228600"/>
          </a:xfrm>
          <a:prstGeom prst="right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692640" y="2148840"/>
            <a:ext cx="192024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378440" y="228600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2880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324612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Export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5204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Download</a:t>
            </a:r>
            <a:br/>
            <a:r>
              <a:t>PDF report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4389120"/>
            <a:ext cx="34747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68680" y="44805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44988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Skill Readiness First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4937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Not just job listings — we assess your readiness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80559" y="4389120"/>
            <a:ext cx="34747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17719" y="44805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3479" y="44988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Explainable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19" y="4937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Full breakdown of why roles are recommended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599" y="4389120"/>
            <a:ext cx="34747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66759" y="44805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32519" y="44988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Privacy-First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66759" y="4937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Session-only processing, DPDP Act 2023 compliant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4747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Target Users &amp; 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475569"/>
                </a:solidFill>
              </a:defRPr>
            </a:pPr>
            <a:r>
              <a:t>CareerPath AI  |  Build For Bharat 2.0  | 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4/13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9808" y="1207008"/>
            <a:ext cx="3255264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68680" y="132588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Final-Year Students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488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B.Tech / B.E. (21-23 yrs)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Placement pressure, need guidance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18872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07408" y="1207008"/>
            <a:ext cx="32552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526280" y="132588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Fresh Graduates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1488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0-1 years experience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Skill-to-role confusion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18872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65008" y="1207008"/>
            <a:ext cx="3255264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183880" y="1325880"/>
            <a:ext cx="411480" cy="41148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Career Switchers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1488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1-3 years, wanting to pivot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Need structured upskilling path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200400"/>
            <a:ext cx="685800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TAM:  1.5M  —  Engineering graduates / year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45920" y="3977640"/>
            <a:ext cx="5029200" cy="5943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SAM:  600K  —  Actively job-seeking students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60320" y="4754880"/>
            <a:ext cx="3200400" cy="5943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SOM:  50K  —  Year 1 target (college partners)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200400"/>
            <a:ext cx="3657600" cy="2743200"/>
          </a:xfrm>
          <a:prstGeom prst="roundRect">
            <a:avLst/>
          </a:prstGeom>
          <a:solidFill>
            <a:srgbClr val="EDE9F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0" y="329184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7C3AED"/>
                </a:solidFill>
              </a:defRPr>
            </a:pPr>
            <a:r>
              <a:t>Why This Market?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749039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🔥  High pain intensity (placement pressure)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📱  Digital-native, willing to try new tools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🔗  Viral potential (peer recommendations)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🏫  College partnerships = instant scale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4747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Solution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475569"/>
                </a:solidFill>
              </a:defRPr>
            </a:pPr>
            <a:r>
              <a:t>CareerPath AI  |  Build For Bharat 2.0  | 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5/13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2011680" cy="10058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Frontend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097280"/>
            <a:ext cx="502920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08960" y="1170432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React.js + Vite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TailwindCSS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Recharts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1554480" y="2103120"/>
            <a:ext cx="274320" cy="228600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2331720"/>
            <a:ext cx="201168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Backend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2331720"/>
            <a:ext cx="502920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08960" y="2404872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FastAPI (Python)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In-memory sessions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JSON knowledge base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554480" y="3337560"/>
            <a:ext cx="274320" cy="228600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31520" y="3566160"/>
            <a:ext cx="2011680" cy="10058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AI / ML Engine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3566160"/>
            <a:ext cx="502920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08960" y="3639312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Keyword skill extraction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Fit score (70/30 weighting)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Explainable recommendations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554480" y="4572000"/>
            <a:ext cx="274320" cy="228600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31520" y="4800600"/>
            <a:ext cx="2011680" cy="10058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Data Layer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4800600"/>
            <a:ext cx="502920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08960" y="4873752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Role-skill catalog (7 roles, 80+ skills)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Validated vs 23K Naukri postings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</a:defRPr>
            </a:pPr>
            <a:r>
              <a:t>▸  ESCO-aligned · Free course DB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1097280"/>
            <a:ext cx="3291840" cy="493776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0" y="123444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🚀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16916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Frontend:  Vercel / Netlify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Backend:  Render / Railway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Database:  In-memory (demo)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APIs:  Self-contained</a:t>
            </a:r>
          </a:p>
          <a:p>
            <a:pPr>
              <a:spcAft>
                <a:spcPts val="300"/>
              </a:spcAft>
              <a:defRPr sz="1100">
                <a:solidFill>
                  <a:srgbClr val="475569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300"/>
              </a:spcAft>
              <a:defRPr sz="1100" b="1">
                <a:solidFill>
                  <a:srgbClr val="1E293B"/>
                </a:solidFill>
              </a:defRPr>
            </a:pPr>
            <a:r>
              <a:t>✅ Key Properties</a:t>
            </a:r>
          </a:p>
          <a:p>
            <a:pPr>
              <a:spcAft>
                <a:spcPts val="300"/>
              </a:spcAft>
              <a:defRPr sz="1100">
                <a:solidFill>
                  <a:srgbClr val="475569"/>
                </a:solidFill>
              </a:defRPr>
            </a:pPr>
            <a:r>
              <a:t>  ▸ No external API deps</a:t>
            </a:r>
          </a:p>
          <a:p>
            <a:pPr>
              <a:spcAft>
                <a:spcPts val="300"/>
              </a:spcAft>
              <a:defRPr sz="1100">
                <a:solidFill>
                  <a:srgbClr val="475569"/>
                </a:solidFill>
              </a:defRPr>
            </a:pPr>
            <a:r>
              <a:t>  ▸ Fully offline capable</a:t>
            </a:r>
          </a:p>
          <a:p>
            <a:pPr>
              <a:spcAft>
                <a:spcPts val="300"/>
              </a:spcAft>
              <a:defRPr sz="1100">
                <a:solidFill>
                  <a:srgbClr val="475569"/>
                </a:solidFill>
              </a:defRPr>
            </a:pPr>
            <a:r>
              <a:t>  ▸ &lt; 5s response time</a:t>
            </a:r>
          </a:p>
          <a:p>
            <a:pPr>
              <a:spcAft>
                <a:spcPts val="300"/>
              </a:spcAft>
              <a:defRPr sz="1100">
                <a:solidFill>
                  <a:srgbClr val="475569"/>
                </a:solidFill>
              </a:defRPr>
            </a:pPr>
            <a:r>
              <a:t>  ▸ 100 concurrent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4747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Key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475569"/>
                </a:solidFill>
              </a:defRPr>
            </a:pPr>
            <a:r>
              <a:t>CareerPath AI  |  Build For Bharat 2.0  | 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6/13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51560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9808" y="1069848"/>
            <a:ext cx="3346704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68680" y="118872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3619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rPr dirty="0"/>
              <a:t>Resume Parsing &amp;</a:t>
            </a:r>
            <a:br>
              <a:rPr dirty="0"/>
            </a:br>
            <a:r>
              <a:rPr dirty="0"/>
              <a:t>Skill 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116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Upload PDF / DOCX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Keyword-based extraction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Manual edit fallback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051560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98847" y="1069848"/>
            <a:ext cx="334670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617719" y="118872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19" y="163677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rPr dirty="0"/>
              <a:t>Role Comparison &amp;</a:t>
            </a:r>
            <a:br>
              <a:rPr dirty="0"/>
            </a:br>
            <a:r>
              <a:rPr dirty="0"/>
              <a:t>Fit Scoring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19" y="20116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Compare against 7 roles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Fit score with breakdown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Explainable reasoning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9" y="1051560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47887" y="1069848"/>
            <a:ext cx="3346704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66759" y="1188720"/>
            <a:ext cx="411480" cy="41148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🗺️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16230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rPr dirty="0"/>
              <a:t>Learning Roadmap</a:t>
            </a:r>
            <a:br>
              <a:rPr dirty="0"/>
            </a:br>
            <a:r>
              <a:rPr dirty="0"/>
              <a:t>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20116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Week-by-week plan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Free curated courses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10-15 hrs/week estimate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57600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8" y="3675888"/>
            <a:ext cx="3346704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68680" y="3794760"/>
            <a:ext cx="411480" cy="41148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79" y="4187952"/>
            <a:ext cx="347471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rPr dirty="0"/>
              <a:t>Privacy-First</a:t>
            </a:r>
            <a:br>
              <a:rPr dirty="0"/>
            </a:br>
            <a:r>
              <a:rPr dirty="0"/>
              <a:t>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6177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Session-only processing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DPDP Act 2023 compliant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One-click data delete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3657600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498847" y="3675888"/>
            <a:ext cx="3346704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617719" y="3794760"/>
            <a:ext cx="411480" cy="41148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19" y="42976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Printable Reports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46177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PDF / HTML export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Shareable with mentors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Professional formatting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599" y="3562817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47887" y="3675888"/>
            <a:ext cx="3346704" cy="54864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366759" y="3794760"/>
            <a:ext cx="411480" cy="411480"/>
          </a:xfrm>
          <a:prstGeom prst="ellipse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59" y="424114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rPr dirty="0"/>
              <a:t>Mock Job</a:t>
            </a:r>
            <a:br>
              <a:rPr dirty="0"/>
            </a:br>
            <a:r>
              <a:rPr dirty="0"/>
              <a:t>Listings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59" y="46177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Realistic demo data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Naukri-style cards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API integration planned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4747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AI / ML Approach &amp; Algorithms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475569"/>
                </a:solidFill>
              </a:defRPr>
            </a:pPr>
            <a:r>
              <a:t>CareerPath AI  |  Build For Bharat 2.0  | 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7/13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9808" y="1115568"/>
            <a:ext cx="5266944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234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🤖 Skill Extraction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1. Resume text extraction (PyPDF2 / pdfplumber)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2. Keyword matching against 80+ skill dictionary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3. Normalize to canonical skill IDs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4. Confidence scoring + user edit capability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5. Fallback: Manual skill entry or quiz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097280"/>
            <a:ext cx="5303520" cy="2103120"/>
          </a:xfrm>
          <a:prstGeom prst="roundRect">
            <a:avLst/>
          </a:prstGeom>
          <a:solidFill>
            <a:srgbClr val="EDE9F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23444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📐 Fit Score Calculation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Essential Coverage = |User Skills ∩ Essential| / |Essential|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Optional Coverage = |User Skills ∩ Optional| / |Optional|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endParaRPr/>
          </a:p>
          <a:p>
            <a:pPr>
              <a:spcAft>
                <a:spcPts val="200"/>
              </a:spcAft>
              <a:defRPr sz="1100" b="1">
                <a:solidFill>
                  <a:srgbClr val="7C3AED"/>
                </a:solidFill>
              </a:defRPr>
            </a:pPr>
            <a:r>
              <a:t>FitScore = 0.7 × EssentialCoverage + 0.3 × OptionalCoverage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endParaRPr/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Gap = Essential \ User Skills  (prioritized missing list)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2044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49808" y="3538728"/>
            <a:ext cx="5266944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🎯 Career Recommendation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77640"/>
            <a:ext cx="5029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Hybrid Approach: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▸ Content-based: Semantic similarity (user ↔ role)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▸ Rule-based: Boost by education &amp; experience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▸ RoleScore = α×Similarity + β×FitScore + γ×Boost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▸ Rank top 5 roles with full explanations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▸ Show: matched skills, missing skills, why recommended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352044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19088" y="3538728"/>
            <a:ext cx="5266944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🗺️ Roadmap Generation Logic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977640"/>
            <a:ext cx="5029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For each missing skill: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▸ Query curated course database (skill → course)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▸ Prioritize free, short-duration resources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▸ Include project-based learning milestones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▸ Output: Week 1 → Skill A, Week 2 → Skill B...</a:t>
            </a:r>
          </a:p>
          <a:p>
            <a:pPr>
              <a:spcAft>
                <a:spcPts val="300"/>
              </a:spcAft>
              <a:defRPr sz="1000">
                <a:solidFill>
                  <a:srgbClr val="475569"/>
                </a:solidFill>
              </a:defRPr>
            </a:pPr>
            <a:r>
              <a:t>▸ Sources: Coursera, Udemy, YouTube, NPTEL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4747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System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475569"/>
                </a:solidFill>
              </a:defRPr>
            </a:pPr>
            <a:r>
              <a:t>CareerPath AI  |  Build For Bharat 2.0  | 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8/13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645920" cy="1463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📤 Upload Resume</a:t>
            </a:r>
            <a:br/>
            <a:r>
              <a:t>or Enter Skills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1737360"/>
            <a:ext cx="274320" cy="18288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377440" y="1188720"/>
            <a:ext cx="1645920" cy="14630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77440" y="128016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PARSER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15544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📝 Text Extraction</a:t>
            </a:r>
            <a:br/>
            <a:r>
              <a:t>(PDF/DOCX)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23360" y="1737360"/>
            <a:ext cx="274320" cy="18288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297680" y="1188720"/>
            <a:ext cx="1645920" cy="1463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0" y="128016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NLP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15544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🔍 Skill Extraction</a:t>
            </a:r>
            <a:br/>
            <a:r>
              <a:t>&amp; Normalization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43600" y="1737360"/>
            <a:ext cx="274320" cy="18288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17920" y="1188720"/>
            <a:ext cx="1645920" cy="1463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128016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5544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⚙️ Gap Analysis</a:t>
            </a:r>
            <a:br/>
            <a:r>
              <a:t>&amp; Fit Scoring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63840" y="1737360"/>
            <a:ext cx="274320" cy="18288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138160" y="1188720"/>
            <a:ext cx="1645920" cy="14630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38160" y="128016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15544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🎯 Career</a:t>
            </a:r>
            <a:br/>
            <a:r>
              <a:t>Recommendations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784080" y="1737360"/>
            <a:ext cx="274320" cy="18288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058400" y="1188720"/>
            <a:ext cx="1645920" cy="14630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58400" y="128016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15544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🗺️ Learning</a:t>
            </a:r>
            <a:br/>
            <a:r>
              <a:t>Roadmap +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2926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Detailed API Flow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3337560"/>
            <a:ext cx="10515600" cy="3657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" y="3383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Method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33832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Endpoint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3383280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Description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749039"/>
            <a:ext cx="1051560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22960" y="3785615"/>
            <a:ext cx="73152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POST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3767327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/api/resume/upload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3767327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Upload &amp; parse resume file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096511"/>
            <a:ext cx="10515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822960" y="4133087"/>
            <a:ext cx="73152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4114799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/api/resume/parse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4114799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Return extracted skills &amp; profile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4443983"/>
            <a:ext cx="1051560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22960" y="4480559"/>
            <a:ext cx="73152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4462271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/api/roles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0640" y="4462271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List available target roles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4791455"/>
            <a:ext cx="10515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822960" y="4828031"/>
            <a:ext cx="73152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POST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4809743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/api/analysis/gap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4809743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Compute skill gap for user + role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5138927"/>
            <a:ext cx="1051560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822960" y="5175503"/>
            <a:ext cx="73152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5157215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/api/recommendations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20640" y="5157215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Get top recommended roles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1520" y="5486399"/>
            <a:ext cx="10515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822960" y="5522975"/>
            <a:ext cx="73152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POST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5504687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/api/roadmap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5504687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Generate learning roadmap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5833871"/>
            <a:ext cx="1051560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822960" y="5870447"/>
            <a:ext cx="73152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5852159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/api/report/:userId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20640" y="5852159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Download PDF/CSV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4747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Innovation &amp; Competitive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475569"/>
                </a:solidFill>
              </a:defRPr>
            </a:pPr>
            <a:r>
              <a:t>CareerPath AI  |  Build For Bharat 2.0  | 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9/13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2286000" cy="45720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Feature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097280"/>
            <a:ext cx="219456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CareerPath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097280"/>
            <a:ext cx="182880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Internshala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1097280"/>
            <a:ext cx="1828800" cy="457200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LinkedIn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1097280"/>
            <a:ext cx="1828800" cy="457200"/>
          </a:xfrm>
          <a:prstGeom prst="rect">
            <a:avLst/>
          </a:prstGeom>
          <a:solidFill>
            <a:srgbClr val="005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Coursera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645920"/>
            <a:ext cx="22860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Skill Gap Analysis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645920"/>
            <a:ext cx="2194560" cy="402336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✅ Core Feature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645920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1645920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645920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084832"/>
            <a:ext cx="22860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Explainable 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63240" y="2084832"/>
            <a:ext cx="2194560" cy="402336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✅ Full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0" y="2084832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Black Box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2084832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Black Box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2084832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N/A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523744"/>
            <a:ext cx="22860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DPDP Compliant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40" y="2523744"/>
            <a:ext cx="2194560" cy="402336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✅ Session-Only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2523744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Stores 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78040" y="2523744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Stores 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2523744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Stores All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962656"/>
            <a:ext cx="22860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India-Localized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63240" y="2962656"/>
            <a:ext cx="2194560" cy="402336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✅ Built for India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3520" y="2962656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✅ India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2962656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Global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2962656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Global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3401568"/>
            <a:ext cx="22860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Free for Students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401568"/>
            <a:ext cx="2194560" cy="402336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✅ Core Free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0" y="3401568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Paid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78040" y="3401568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Premium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52560" y="3401568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Paid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3840480"/>
            <a:ext cx="22860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Learning Roadmap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3840480"/>
            <a:ext cx="2194560" cy="402336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✅ Week-by-Week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0" y="3840480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Course List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3840480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52560" y="3840480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Course List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4279392"/>
            <a:ext cx="22860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Career Readiness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4279392"/>
            <a:ext cx="2194560" cy="402336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✅ Score + Path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4279392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No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8040" y="4279392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No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52560" y="4279392"/>
            <a:ext cx="1828800" cy="40233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1E293B"/>
                </a:solidFill>
              </a:defRPr>
            </a:pPr>
            <a:r>
              <a:t>❌ No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286000" y="5120640"/>
            <a:ext cx="7589520" cy="82296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468880" y="5166360"/>
            <a:ext cx="7223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B82F6"/>
                </a:solidFill>
              </a:defRPr>
            </a:pPr>
            <a:r>
              <a:t>🏆 Unique Value Proposition</a:t>
            </a:r>
          </a:p>
          <a:p>
            <a:pPr algn="ctr">
              <a:defRPr sz="1800" b="1" i="1">
                <a:solidFill>
                  <a:srgbClr val="1E3A8A"/>
                </a:solidFill>
              </a:defRPr>
            </a:pPr>
            <a:r>
              <a:t>"We don't just list jobs. We make you job-ready first."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4747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Impact &amp; Projected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475569"/>
                </a:solidFill>
              </a:defRPr>
            </a:pPr>
            <a:r>
              <a:t>CareerPath AI  |  Build For Bharat 2.0  | 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10/13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2560320" cy="14630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23444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3B82F6"/>
                </a:solidFill>
              </a:defRPr>
            </a:pPr>
            <a:r>
              <a:t>50,000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Students Served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097280"/>
            <a:ext cx="2560320" cy="14630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0" y="123444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59669"/>
                </a:solidFill>
              </a:defRPr>
            </a:pPr>
            <a: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783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Report Increased</a:t>
            </a:r>
            <a:br/>
            <a:r>
              <a:t>Career Confidence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097280"/>
            <a:ext cx="2560320" cy="14630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23444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7C3AED"/>
                </a:solidFill>
              </a:defRPr>
            </a:pPr>
            <a:r>
              <a:t>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783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Complete Learning</a:t>
            </a:r>
            <a:br/>
            <a:r>
              <a:t>Roadmap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097280"/>
            <a:ext cx="2560320" cy="14630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0" y="123444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EA580C"/>
                </a:solidFill>
              </a:defRPr>
            </a:pPr>
            <a: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1783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Improved Interview</a:t>
            </a:r>
            <a:br/>
            <a:r>
              <a:t>Conversion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834640"/>
            <a:ext cx="5486400" cy="2560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2926080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🌍 Social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33756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🎯  Democratizes career guidance — free for all students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⚖️  Reduces skill mismatch in Indian job market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🏫  Helps Tier-2/3 college students compete with Tier-1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📈  Aligns education outcomes with industry demand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2834640"/>
            <a:ext cx="5120640" cy="25603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2926080"/>
            <a:ext cx="4754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📈 Scalability Roadmap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337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Add 100+ roles (currently 7)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Integrate real job APIs (Naukri, LinkedIn)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Partner with 100+ colleges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Expand to regional languages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Mobile app for wider reach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731520" y="5532120"/>
          <a:ext cx="5029200" cy="77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4747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Challenges &amp; Key Learnings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475569"/>
                </a:solidFill>
              </a:defRPr>
            </a:pPr>
            <a:r>
              <a:t>CareerPath AI  |  Build For Bharat 2.0  | 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11/13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6400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⚠️  Resume Parsing Edge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087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C2626"/>
                </a:solidFill>
              </a:defRPr>
            </a:pPr>
            <a:r>
              <a:t>Problem: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Scanned PDFs, complex layouts, non-standard formats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5087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Solution: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Manual entry fallback + clear error messages + format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51760"/>
            <a:ext cx="6400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724912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🎯  Skill Extraction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C2626"/>
                </a:solidFill>
              </a:defRPr>
            </a:pPr>
            <a:r>
              <a:t>Problem: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Keyword matching misses context and synonyms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063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Solution: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Confidence scoring + user edit capability + synonym dictionary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6400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279392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⏰  Hackathon Time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C2626"/>
                </a:solidFill>
              </a:defRPr>
            </a:pPr>
            <a:r>
              <a:t>Problem: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48 hours for full-stack development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6177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Solution: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Prioritized core journey, mocked non-essential features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097280"/>
            <a:ext cx="4206240" cy="4572000"/>
          </a:xfrm>
          <a:prstGeom prst="roundRect">
            <a:avLst/>
          </a:prstGeom>
          <a:solidFill>
            <a:srgbClr val="EDE9F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80960" y="123444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7C3AED"/>
                </a:solidFill>
              </a:defRPr>
            </a:pPr>
            <a:r>
              <a:t>💡 Key Learnings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737360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🔒  Privacy-first design builds user trust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🔍  Explainability &gt; Accuracy for user adoption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🇮🇳  India-localization is a competitive advantage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🎯  Core journey first, polish later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👥  User feedback loops are essential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📊  Simple algorithms with good data beat complex 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4747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t>Future Roadmap &amp; Monetization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475569"/>
                </a:solidFill>
              </a:defRPr>
            </a:pPr>
            <a:r>
              <a:t>CareerPath AI  |  Build For Bharat 2.0  | 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12/13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338328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124712"/>
            <a:ext cx="1371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1430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Post-Hackathon</a:t>
            </a:r>
            <a:br/>
            <a:r>
              <a:t>(3 months)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828800"/>
            <a:ext cx="3383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Add 20+ more roles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Integrate Naukri / LinkedIn APIs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Email progress notifications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User feedback &amp; analytics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097280"/>
            <a:ext cx="3383280" cy="5943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19" y="1124712"/>
            <a:ext cx="1371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39" y="11430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Growth</a:t>
            </a:r>
            <a:br/>
            <a:r>
              <a:t>(6 months)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1828800"/>
            <a:ext cx="3383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719" y="196596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Mobile app (React Native)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College placement dashboard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Premium features launch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1-on-1 career coaching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9" y="1097280"/>
            <a:ext cx="3383280" cy="5943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59" y="1124712"/>
            <a:ext cx="1371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79" y="11430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Scale</a:t>
            </a:r>
            <a:br/>
            <a:r>
              <a:t>(12 months)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599" y="1828800"/>
            <a:ext cx="3383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59" y="196596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AI chatbot (RAG-based Q&amp;A)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Employer talent dashboard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Expand to 5 countries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Regional language support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206240"/>
            <a:ext cx="1069848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2976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💰 Monetization Strategy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🆓  Freemium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0749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Core features free forever for students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47548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⭐  Premium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0749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₹299/month — Advanced analytics, priority support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7548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🏢  B2B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50749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₹50,000/year per college — Placement cell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1537</Words>
  <Application>Microsoft Office PowerPoint</Application>
  <PresentationFormat>Widescreen</PresentationFormat>
  <Paragraphs>365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rashmiroy2004@outlook.com</cp:lastModifiedBy>
  <cp:revision>1</cp:revision>
  <dcterms:created xsi:type="dcterms:W3CDTF">2013-01-27T09:14:16Z</dcterms:created>
  <dcterms:modified xsi:type="dcterms:W3CDTF">2026-10-07T07:30:02Z</dcterms:modified>
  <cp:category/>
</cp:coreProperties>
</file>