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05840"/>
            <a:ext cx="3840480" cy="34747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93C5FD"/>
                </a:solidFill>
              </a:defRPr>
            </a:pPr>
            <a:r>
              <a:t>SAS &amp; CHANDIGARH UNIVERSITY HACKATHON · ROUND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327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FFFFF"/>
                </a:solidFill>
              </a:defRPr>
            </a:pPr>
            <a:r>
              <a:t>CareerPath AI</a:t>
            </a:r>
          </a:p>
          <a:p>
            <a:pPr>
              <a:spcBef>
                <a:spcPts val="800"/>
              </a:spcBef>
              <a:defRPr sz="1600">
                <a:solidFill>
                  <a:srgbClr val="BFDBFE"/>
                </a:solidFill>
              </a:defRPr>
            </a:pPr>
            <a:r>
              <a:t>Intelligent Talent &amp; Workforce Ecosystem: Prescriptive Career Mobility, Empirical Benchmarking &amp; ML Analytics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1840"/>
            <a:ext cx="2468880" cy="1554480"/>
          </a:xfrm>
          <a:prstGeom prst="roundRect">
            <a:avLst/>
          </a:prstGeom>
          <a:solidFill>
            <a:srgbClr val="131E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0A5FA"/>
                </a:solidFill>
              </a:defRPr>
            </a:pPr>
            <a:r>
              <a:t>ESCO International Taxonomy</a:t>
            </a:r>
          </a:p>
          <a:p>
            <a:pPr>
              <a:spcBef>
                <a:spcPts val="400"/>
              </a:spcBef>
              <a:defRPr sz="900">
                <a:solidFill>
                  <a:srgbClr val="CBD5E1"/>
                </a:solidFill>
              </a:defRPr>
            </a:pPr>
            <a:r>
              <a:t>European Commission v1.1 ontology standardized across 81 IT &amp; Data roles.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20440" y="3291840"/>
            <a:ext cx="2468880" cy="1554480"/>
          </a:xfrm>
          <a:prstGeom prst="roundRect">
            <a:avLst/>
          </a:prstGeom>
          <a:solidFill>
            <a:srgbClr val="131E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0A5FA"/>
                </a:solidFill>
              </a:defRPr>
            </a:pPr>
            <a:r>
              <a:t>Closed-Form ML Engine</a:t>
            </a:r>
          </a:p>
          <a:p>
            <a:pPr>
              <a:spcBef>
                <a:spcPts val="400"/>
              </a:spcBef>
              <a:defRPr sz="900">
                <a:solidFill>
                  <a:srgbClr val="CBD5E1"/>
                </a:solidFill>
              </a:defRPr>
            </a:pPr>
            <a:r>
              <a:t>NumPy Ridge compensation predictor (R²=0.715, fresher local MAE ₹1.18L).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291840"/>
            <a:ext cx="2468880" cy="1554480"/>
          </a:xfrm>
          <a:prstGeom prst="roundRect">
            <a:avLst/>
          </a:prstGeom>
          <a:solidFill>
            <a:srgbClr val="131E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0A5FA"/>
                </a:solidFill>
              </a:defRPr>
            </a:pPr>
            <a:r>
              <a:t>Talent Intelligence Dual-Track</a:t>
            </a:r>
          </a:p>
          <a:p>
            <a:pPr>
              <a:spcBef>
                <a:spcPts val="400"/>
              </a:spcBef>
              <a:defRPr sz="900">
                <a:solidFill>
                  <a:srgbClr val="CBD5E1"/>
                </a:solidFill>
              </a:defRPr>
            </a:pPr>
            <a:r>
              <a:t>Gaussian Naive Bayes promotion &amp; Big Five OCEAN leadership classifiers.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3291840"/>
            <a:ext cx="2468880" cy="1554480"/>
          </a:xfrm>
          <a:prstGeom prst="roundRect">
            <a:avLst/>
          </a:prstGeom>
          <a:solidFill>
            <a:srgbClr val="131E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0A5FA"/>
                </a:solidFill>
              </a:defRPr>
            </a:pPr>
            <a:r>
              <a:t>Prescriptive Roadmap</a:t>
            </a:r>
          </a:p>
          <a:p>
            <a:pPr>
              <a:spcBef>
                <a:spcPts val="400"/>
              </a:spcBef>
              <a:defRPr sz="900">
                <a:solidFill>
                  <a:srgbClr val="CBD5E1"/>
                </a:solidFill>
              </a:defRPr>
            </a:pPr>
            <a:r>
              <a:t>Automated mapping to free government SWAYAM &amp; NPTEL verified courses.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640080"/>
          </a:xfrm>
          <a:prstGeom prst="rect">
            <a:avLst/>
          </a:prstGeom>
          <a:solidFill>
            <a:srgbClr val="050B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Team: CareerPath AI  |  Track: Intelligent Talent &amp; Workforce Ecosystem  |  Presented: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l">
              <a:defRPr sz="850">
                <a:solidFill>
                  <a:srgbClr val="475569"/>
                </a:solidFill>
              </a:defRPr>
            </a:pPr>
            <a:r>
              <a:t>CareerPath AI  |  SAS &amp; CU Hackathon  ·  Round 2 Technical Evaluation  |  Build For Bharat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475569"/>
                </a:solidFill>
              </a:defRPr>
            </a:pPr>
            <a:r>
              <a:t>02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"/>
            <a:ext cx="34747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730A3"/>
                </a:solidFill>
              </a:defRPr>
            </a:pPr>
            <a:r>
              <a:t>★ Evaluation Alignment · 100 Marks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Round 2 Official Judging Rubric Alignment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</a:defRPr>
            </a:pPr>
            <a:r>
              <a:t>Every slide directly corresponds to the 6 criteria evaluated by the Hackathon Jury sheet.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80160"/>
          <a:ext cx="10698480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05840"/>
                <a:gridCol w="1005840"/>
                <a:gridCol w="6400800"/>
              </a:tblGrid>
              <a:tr h="61150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Evaluation Criterion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Marks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Slides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Analytical Evidence &amp; Implementation Deliverable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1. Problem Definition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97706"/>
                          </a:solidFill>
                        </a:defRPr>
                      </a:pPr>
                      <a:r>
                        <a:t>10 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563EB"/>
                          </a:solidFill>
                        </a:defRPr>
                      </a:pPr>
                      <a:r>
                        <a:t>Slide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National graduate employability mismatch, structural syllabus-market divergence, scope &amp; depth.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2. Approach Description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97706"/>
                          </a:solidFill>
                        </a:defRPr>
                      </a:pPr>
                      <a:r>
                        <a:t>15 Marks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563EB"/>
                          </a:solidFill>
                        </a:defRPr>
                      </a:pPr>
                      <a:r>
                        <a:t>Slide 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4-tier architecture, ESCO v1.1 ontology, pure NumPy closed-form design rationale (no LLM black-box).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3. Data Exploration &amp; Preparation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97706"/>
                          </a:solidFill>
                        </a:defRPr>
                      </a:pPr>
                      <a:r>
                        <a:t>15 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563EB"/>
                          </a:solidFill>
                        </a:defRPr>
                      </a:pPr>
                      <a:r>
                        <a:t>Slides 5-7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7 datasets provenance, rows before-&gt;after cleaning audit, null imputations, 4 dedicated high-res EDA figures.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4. Data Analysis &amp; ML Pipeline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97706"/>
                          </a:solidFill>
                        </a:defRPr>
                      </a:pPr>
                      <a:r>
                        <a:t>30 Marks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563EB"/>
                          </a:solidFill>
                        </a:defRPr>
                      </a:pPr>
                      <a:r>
                        <a:t>Slides 8-11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93k jobs market audit, Chi-Square (p&lt;10⁻³⁷), 4-model CV comparison, Ridge regressor (fresher MAE ₹1.18L), weight sensitivity.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5. Results &amp; Conclusions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97706"/>
                          </a:solidFill>
                        </a:defRPr>
                      </a:pPr>
                      <a:r>
                        <a:t>20 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563EB"/>
                          </a:solidFill>
                        </a:defRPr>
                      </a:pPr>
                      <a:r>
                        <a:t>Slides 12-13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Live application workflow, Career Growth simulator, Talent Intelligence, ReportLab PDF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6. Implications &amp; Impact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97706"/>
                          </a:solidFill>
                        </a:defRPr>
                      </a:pPr>
                      <a:r>
                        <a:t>10 Marks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563EB"/>
                          </a:solidFill>
                        </a:defRPr>
                      </a:pPr>
                      <a:r>
                        <a:t>Slides 14-15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60-student batch pilot (41.2% -&gt; 86.7% placement ready), demographic parity audit (DIR=1.000), NEP 2020.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11505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7. Future Implementation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D97706"/>
                          </a:solidFill>
                        </a:defRPr>
                      </a:pPr>
                      <a:r>
                        <a:t>Jury Advisory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563EB"/>
                          </a:solidFill>
                        </a:defRPr>
                      </a:pPr>
                      <a:r>
                        <a:t>Slides 16-17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Top 30 Jury Enhancements: Proctored Skill Verification (10-Q, 80% pass), Anti-Cheat Sandbox, Dynamic Resume, AI Viva.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l">
              <a:defRPr sz="850">
                <a:solidFill>
                  <a:srgbClr val="475569"/>
                </a:solidFill>
              </a:defRPr>
            </a:pPr>
            <a:r>
              <a:t>CareerPath AI  |  SAS &amp; CU Hackathon  ·  Round 2 Technical Evaluation  |  Build For Bharat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475569"/>
                </a:solidFill>
              </a:defRPr>
            </a:pPr>
            <a:r>
              <a:t>03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"/>
            <a:ext cx="34747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730A3"/>
                </a:solidFill>
              </a:defRPr>
            </a:pPr>
            <a:r>
              <a:t>★ Criterion 1 · Problem Definition (10 Marks)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Problem Definition &amp; Analytics Objectives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</a:defRPr>
            </a:pPr>
            <a:r>
              <a:t>Addressing India's graduate employability crisis through transparent, algorithmic skill benchmarking.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12801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1732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DC2626"/>
                </a:solidFill>
              </a:defRPr>
            </a:pPr>
            <a:r>
              <a:t>1.5M+ Annual Graduates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Over 15 lakh technical students graduate yearly across India, but NASSCOM &amp; Wheebox report &lt;45% are corporate-ready.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371600"/>
            <a:ext cx="3383280" cy="12801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41732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A580C"/>
                </a:solidFill>
              </a:defRPr>
            </a:pPr>
            <a:r>
              <a:t>Curriculum vs Market Mismatch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Colleges teach theoretical syntax; market demands full-stack competency ontologies (e.g. React/TypeScript/Docker).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12801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41732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Hiring Platforms Fall Short</a:t>
            </a:r>
          </a:p>
          <a:p>
            <a:pPr>
              <a:defRPr sz="950">
                <a:solidFill>
                  <a:srgbClr val="0F172A"/>
                </a:solidFill>
              </a:defRPr>
            </a:pPr>
            <a:r>
              <a:t>LinkedIn &amp; Naukri filter candidates out without telling them what they lack or how to bridge the gap.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834640"/>
            <a:ext cx="1069848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926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Core Analytical Objectives &amp; Architectural 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20040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b="1" sz="1050">
                <a:solidFill>
                  <a:srgbClr val="1E3A8A"/>
                </a:solidFill>
              </a:defRPr>
            </a:pPr>
            <a:r>
              <a:t>• Deterministic Skill Extraction &amp; Normalization: </a:t>
            </a:r>
            <a:r>
              <a:rPr b="0" sz="1000">
                <a:solidFill>
                  <a:srgbClr val="0F172A"/>
                </a:solidFill>
              </a:rPr>
              <a:t>Parse unstructured PDF/DOCX resumes using PyMuPDF and map 300+ technical variants into canonical ontological entities using RapidFuzz (eliminating typos like 'react.js' -&gt; 'React').</a:t>
            </a:r>
          </a:p>
          <a:p>
            <a:pPr>
              <a:spcBef>
                <a:spcPts val="600"/>
              </a:spcBef>
              <a:defRPr b="1" sz="1050">
                <a:solidFill>
                  <a:srgbClr val="1E3A8A"/>
                </a:solidFill>
              </a:defRPr>
            </a:pPr>
            <a:r>
              <a:t>• Ontological Skill-Gap Scoring: </a:t>
            </a:r>
            <a:r>
              <a:rPr b="0" sz="1000">
                <a:solidFill>
                  <a:srgbClr val="0F172A"/>
                </a:solidFill>
              </a:rPr>
              <a:t>Evaluate candidate skills against European Commission ESCO v1.1 ICT standards using a weighted 70% Essential / 30% Optional scoring formula.</a:t>
            </a:r>
          </a:p>
          <a:p>
            <a:pPr>
              <a:spcBef>
                <a:spcPts val="600"/>
              </a:spcBef>
              <a:defRPr b="1" sz="1050">
                <a:solidFill>
                  <a:srgbClr val="1E3A8A"/>
                </a:solidFill>
              </a:defRPr>
            </a:pPr>
            <a:r>
              <a:t>• Empirical CTC &amp; Velocity Prediction: </a:t>
            </a:r>
            <a:r>
              <a:rPr b="0" sz="1000">
                <a:solidFill>
                  <a:srgbClr val="0F172A"/>
                </a:solidFill>
              </a:rPr>
              <a:t>Deploy closed-form NumPy Ridge Regression to predict Indian market compensation with localized fresher calibration (MAE ₹1.18L), and Gaussian Naive Bayes to classify promotion probability.</a:t>
            </a:r>
          </a:p>
          <a:p>
            <a:pPr>
              <a:spcBef>
                <a:spcPts val="600"/>
              </a:spcBef>
              <a:defRPr b="1" sz="1050">
                <a:solidFill>
                  <a:srgbClr val="1E3A8A"/>
                </a:solidFill>
              </a:defRPr>
            </a:pPr>
            <a:r>
              <a:t>• Prescriptive Actionable Roadmaps: </a:t>
            </a:r>
            <a:r>
              <a:rPr b="0" sz="1000">
                <a:solidFill>
                  <a:srgbClr val="0F172A"/>
                </a:solidFill>
              </a:rPr>
              <a:t>Provide sequential 8-week learning milestones directly linking missing competencies to free government SWAYAM / NPTEL accredited courses and capstone projects.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l">
              <a:defRPr sz="850">
                <a:solidFill>
                  <a:srgbClr val="475569"/>
                </a:solidFill>
              </a:defRPr>
            </a:pPr>
            <a:r>
              <a:t>CareerPath AI  |  SAS &amp; CU Hackathon  ·  Round 2 Technical Evaluation  |  Build For Bharat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475569"/>
                </a:solidFill>
              </a:defRPr>
            </a:pPr>
            <a:r>
              <a:t>04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"/>
            <a:ext cx="34747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730A3"/>
                </a:solidFill>
              </a:defRPr>
            </a:pPr>
            <a:r>
              <a:t>★ Criterion 2 · Approach Description (15 Marks)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4-Tier System Architecture &amp; Pipeline Design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</a:defRPr>
            </a:pPr>
            <a:r>
              <a:t>A deterministic, privacy-preserving, closed-form computational engine built for production scale.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26060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6304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Tier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73736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Ingestion &amp; Normalization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t>• PyMuPDF &amp; python-docx dual document parser.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t>• 300+ Compiled Regex entity extractors.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t>• RapidFuzz Levenshtein token-sort normalizer.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t>• Academic degree &amp; CGPA extraction.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371600"/>
            <a:ext cx="26060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46304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E7490"/>
                </a:solidFill>
              </a:defRPr>
            </a:pPr>
            <a:r>
              <a:t>Tier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173736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Gap &amp; Fit Engine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t>• ESCO v1.1 ICT taxonomy (81 roles, 788 skills).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t>• Deterministic 70% Essential / 30% Optional split.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t>• Categorization: Matched, Missing Ess, Missing Opt, Surplus.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t>• FastAPI microservice executing in &lt;200ms.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371600"/>
            <a:ext cx="26060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46304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Tier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73736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Predictive ML Analytics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t>• NumPy Closed-Form Ridge Regressor (R²=0.715).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t>• Gaussian Naive Bayes promotion classifier (84.2% acc).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t>• Big Five OCEAN leadership classifier (95.7% acc).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t>• TF-IDF Semantic Vectorizer (Cosine Sim matching).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1371600"/>
            <a:ext cx="2606040" cy="3383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463040"/>
            <a:ext cx="2331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t>Tier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33688" y="173736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Action &amp; Presentation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t>• 8-Week sequential SWAYAM / NPTEL roadmap.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t>• React 18 + Vite + Tailwind interactive UI.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t>• Recharts radar, circular fit gauge &amp; bars.</a:t>
            </a:r>
          </a:p>
          <a:p>
            <a:pPr>
              <a:spcBef>
                <a:spcPts val="300"/>
              </a:spcBef>
              <a:defRPr sz="850">
                <a:solidFill>
                  <a:srgbClr val="475569"/>
                </a:solidFill>
              </a:defRPr>
            </a:pPr>
            <a:r>
              <a:t>• ReportLab executive PDF approach note export.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892040"/>
            <a:ext cx="10698480" cy="13258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56048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E3A8A"/>
                </a:solidFill>
              </a:defRPr>
            </a:pPr>
            <a:r>
              <a:t>★ Engineering Rationale: Why Closed-Form Pure NumPy / SciPy Over Black-Box LLMs?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</a:defRPr>
            </a:pPr>
            <a:r>
              <a:t>1. Zero Hallucination: Mathematical formulas guarantee reproducible, auditable scores without fabricating phantom skills.</a:t>
            </a:r>
            <a:br/>
            <a:r>
              <a:t>2. Sub-200ms Execution: Instant local computation without expensive token billing or API rate limits.</a:t>
            </a:r>
            <a:br/>
            <a:r>
              <a:t>3. Student Privacy: Resumes never leave the host system; zero candidate PII transmitted to external third-party cloud servers.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l">
              <a:defRPr sz="850">
                <a:solidFill>
                  <a:srgbClr val="475569"/>
                </a:solidFill>
              </a:defRPr>
            </a:pPr>
            <a:r>
              <a:t>CareerPath AI  |  SAS &amp; CU Hackathon  ·  Round 2 Technical Evaluation  |  Build For Bharat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475569"/>
                </a:solidFill>
              </a:defRPr>
            </a:pPr>
            <a:r>
              <a:t>05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"/>
            <a:ext cx="34747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730A3"/>
                </a:solidFill>
              </a:defRPr>
            </a:pPr>
            <a:r>
              <a:t>★ Criterion 3 · Data Exploration (15 Marks)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Data Exploration: Provenance of 7 Empirical Datasets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</a:defRPr>
            </a:pPr>
            <a:r>
              <a:t>Grounded across 28,000+ real-world industry postings, placement offers, and corporate appraisals.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1069848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3291840"/>
                <a:gridCol w="2194560"/>
                <a:gridCol w="2286000"/>
              </a:tblGrid>
              <a:tr h="66620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Dataset Name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Records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Data Origin &amp; Provenance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Key Features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Model &amp; Analytics Usage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Analytics Jobs.csv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563EB"/>
                          </a:solidFill>
                        </a:defRPr>
                      </a:pPr>
                      <a:r>
                        <a:t>15,841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Scraped postings across 8 Indian tech hubs (Naukri, Indeed, LinkedIn)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Skills in JDs, city, exp, salary brackets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Macro market trends, Chi-Square test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DataScience Jobs.csv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563EB"/>
                          </a:solidFill>
                        </a:defRPr>
                      </a:pPr>
                      <a:r>
                        <a:t>1,602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Aggregated enterprise postings across 642 recruiting entities (93,005 positions)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Company, role, volume, salary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Recruiter volumes, salary benchmarks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Consolidated Salary (5k + 500)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563EB"/>
                          </a:solidFill>
                        </a:defRPr>
                      </a:pPr>
                      <a:r>
                        <a:t>5,500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Multi-tier Indian tech postings (5,000) &amp; campus placement offers (500)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Skills, degrees, exp, 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NumPy Ridge compensation 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JDS Skill Traits.xlsx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563EB"/>
                          </a:solidFill>
                        </a:defRPr>
                      </a:pPr>
                      <a:r>
                        <a:t>139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Annual workplace appraisal reviews from mid-tier IT services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Competency scores (Storytelling, Math, Coding)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Junior promotion velocity classifier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SDS Personality Traits.xlsx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563EB"/>
                          </a:solidFill>
                        </a:defRPr>
                      </a:pPr>
                      <a:r>
                        <a:t>161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Standardized corporate diagnostics (Big Five OCEAN inventory)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Psychometric norm scores (0-100)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Senior delivery success classifier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ESCO Occupations v1.1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2563EB"/>
                          </a:solidFill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European Commission official international taxonomy standard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Essential &amp; optional skills ontologies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International role benchmark ontology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l">
              <a:defRPr sz="850">
                <a:solidFill>
                  <a:srgbClr val="475569"/>
                </a:solidFill>
              </a:defRPr>
            </a:pPr>
            <a:r>
              <a:t>CareerPath AI  |  SAS &amp; CU Hackathon  ·  Round 2 Technical Evaluation  |  Build For Bharat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475569"/>
                </a:solidFill>
              </a:defRPr>
            </a:pPr>
            <a:r>
              <a:t>06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"/>
            <a:ext cx="34747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730A3"/>
                </a:solidFill>
              </a:defRPr>
            </a:pPr>
            <a:r>
              <a:t>★ Criterion 3 · Data Preparation (15 Marks)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Data Preparation: Quality Defects &amp; Remediation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</a:defRPr>
            </a:pPr>
            <a:r>
              <a:t>Systematic rows before -&gt; after audit, null value imputations, and outlier clipping protocol.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80160"/>
          <a:ext cx="64008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640080"/>
                <a:gridCol w="1645920"/>
                <a:gridCol w="2011680"/>
                <a:gridCol w="731520"/>
              </a:tblGrid>
              <a:tr h="8077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Dataset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Raw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Quality Defects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Remediation Applied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Cleaned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Analytics Jobs.csv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15,841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job_type: 75.8% Nulls (12,011 rows); job_desc: 22.1% Nulls (3,508 rows)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Excluded job_type from regression; imputed descriptions via designation + skills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59669"/>
                          </a:solidFill>
                        </a:defRPr>
                      </a:pPr>
                      <a:r>
                        <a:t>15,840 (99.99%)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DataScience Jobs.csv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1,602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String salary formats ('7.8L'); experience ranges formatted as 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Regex extraction stripping 'L'; continuous float LPA; validated min &lt;= avg &lt;= max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59669"/>
                          </a:solidFill>
                        </a:defRPr>
                      </a:pPr>
                      <a:r>
                        <a:t>1,602 (100.0%)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JDS Skill Traits.xlsx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139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No missing values; raw column names with casing; Likert bounds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Verified Likert integrity in [1.0, 5.0]; lowercase snake_case normalization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59669"/>
                          </a:solidFill>
                        </a:defRPr>
                      </a:pPr>
                      <a:r>
                        <a:t>139 (100.0%)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SDS Personality Traits.xlsx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161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Leading whitespace in ' extraversion'; space in success classification header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Automated string strip &amp; regex snake_case; validated norm scores in [0, 100]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59669"/>
                          </a:solidFill>
                        </a:defRPr>
                      </a:pPr>
                      <a:r>
                        <a:t>161 (100.0%)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Consolidated Salary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5,500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Extreme entry outliers (&gt; 60 LPA in entry roles); disparate salary formats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0F172A"/>
                          </a:solidFill>
                        </a:defRPr>
                      </a:pPr>
                      <a:r>
                        <a:t>Unified column schema; currency normalization; clipped upper 1% extreme outliers at 45 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59669"/>
                          </a:solidFill>
                        </a:defRPr>
                      </a:pPr>
                      <a:r>
                        <a:t>5,445 (99.0%)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_eda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280160"/>
            <a:ext cx="4023360" cy="2286000"/>
          </a:xfrm>
          <a:prstGeom prst="rect">
            <a:avLst/>
          </a:prstGeom>
        </p:spPr>
      </p:pic>
      <p:pic>
        <p:nvPicPr>
          <p:cNvPr id="9" name="Picture 8" descr="fig_eda_salary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3749039"/>
            <a:ext cx="402336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l">
              <a:defRPr sz="850">
                <a:solidFill>
                  <a:srgbClr val="475569"/>
                </a:solidFill>
              </a:defRPr>
            </a:pPr>
            <a:r>
              <a:t>CareerPath AI  |  SAS &amp; CU Hackathon  ·  Round 2 Technical Evaluation  |  Build For Bharat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475569"/>
                </a:solidFill>
              </a:defRPr>
            </a:pPr>
            <a:r>
              <a:t>07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"/>
            <a:ext cx="34747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730A3"/>
                </a:solidFill>
              </a:defRPr>
            </a:pPr>
            <a:r>
              <a:t>★ Criterion 3 · Exploratory Data Analysis (15 Marks)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Exploratory Data Analysis: Scaling &amp; Correlation Heatmaps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</a:defRPr>
            </a:pPr>
            <a:r>
              <a:t>Empirical bivariate experience-salary slope (+₹1.74L/yr) and competency correlation matrix.</a:t>
            </a:r>
          </a:p>
        </p:txBody>
      </p:sp>
      <p:pic>
        <p:nvPicPr>
          <p:cNvPr id="7" name="Picture 6" descr="fig_eda_salary_ex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212080" cy="3291840"/>
          </a:xfrm>
          <a:prstGeom prst="rect">
            <a:avLst/>
          </a:prstGeom>
        </p:spPr>
      </p:pic>
      <p:pic>
        <p:nvPicPr>
          <p:cNvPr id="8" name="Picture 7" descr="fig_eda_corre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21208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4709160"/>
            <a:ext cx="52120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0060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Figure EDA-3 Insights: Experience-Salary Dispersion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4937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F172A"/>
                </a:solidFill>
              </a:defRPr>
            </a:pPr>
            <a:r>
              <a:t>• Panel A: Empirical OLS slope of +₹1.74 LPA per year of experience across enterprise postings.</a:t>
            </a:r>
            <a:br/>
            <a:r>
              <a:t>• Panel B: Clear variance expansion: Freshers (0-1 yrs) exhibit tightly bounded pay (median ₹4.12L, IQR ₹1.2L), while Senior Leadership (9+ yrs) exhibits vast dispersion (median ₹26.5L, IQR ₹8.5L).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709160"/>
            <a:ext cx="521208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480060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Figure EDA-4 Insights: Feature Inter-Correlations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029200"/>
            <a:ext cx="4937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F172A"/>
                </a:solidFill>
              </a:defRPr>
            </a:pPr>
            <a:r>
              <a:t>• JDS Competencies (N=139): Storytelling (r = +0.554) and Math/Stats (r = +0.524) dominate promotion salary hikes, whereas Big Data (r = +0.112) displays near-zero correlation.</a:t>
            </a:r>
            <a:br/>
            <a:r>
              <a:t>• SDS Psychometrics (N=161): Conscientiousness (r = +0.680) and Openness (r = +0.671) are primary delivery drivers; Neuroticism (r = -0.006) has zero correlation.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l">
              <a:defRPr sz="850">
                <a:solidFill>
                  <a:srgbClr val="475569"/>
                </a:solidFill>
              </a:defRPr>
            </a:pPr>
            <a:r>
              <a:t>CareerPath AI  |  SAS &amp; CU Hackathon  ·  Round 2 Technical Evaluation  |  Build For Bharat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475569"/>
                </a:solidFill>
              </a:defRPr>
            </a:pPr>
            <a:r>
              <a:t>08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"/>
            <a:ext cx="34747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730A3"/>
                </a:solidFill>
              </a:defRPr>
            </a:pPr>
            <a:r>
              <a:t>★ Criterion 4 · Data Analysis (30 Marks)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Macro Market Analytics &amp; Audited Chi-Square Test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</a:defRPr>
            </a:pPr>
            <a:r>
              <a:t>93,005 audited openings across 642 recruiters and statistically indisputable regional wage premiums.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26060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3258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93,005 Openings</a:t>
            </a:r>
          </a:p>
          <a:p>
            <a:pPr>
              <a:defRPr sz="950" b="1">
                <a:solidFill>
                  <a:srgbClr val="0E7490"/>
                </a:solidFill>
              </a:defRPr>
            </a:pPr>
            <a:r>
              <a:t>Enterprise DS Postings</a:t>
            </a:r>
          </a:p>
          <a:p>
            <a:pPr>
              <a:spcBef>
                <a:spcPts val="200"/>
              </a:spcBef>
              <a:defRPr sz="800">
                <a:solidFill>
                  <a:srgbClr val="475569"/>
                </a:solidFill>
              </a:defRPr>
            </a:pPr>
            <a:r>
              <a:t>Summed across 1,602 enterprise records (TCS 9,064, Accenture 5,425, IBM 4,120).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280160"/>
            <a:ext cx="26060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8728" y="13258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15,841 Postings</a:t>
            </a:r>
          </a:p>
          <a:p>
            <a:pPr>
              <a:defRPr sz="950" b="1">
                <a:solidFill>
                  <a:srgbClr val="0E7490"/>
                </a:solidFill>
              </a:defRPr>
            </a:pPr>
            <a:r>
              <a:t>Analytics Jobs Tracked</a:t>
            </a:r>
          </a:p>
          <a:p>
            <a:pPr>
              <a:spcBef>
                <a:spcPts val="200"/>
              </a:spcBef>
              <a:defRPr sz="800">
                <a:solidFill>
                  <a:srgbClr val="475569"/>
                </a:solidFill>
              </a:defRPr>
            </a:pPr>
            <a:r>
              <a:t>Scraped across 8 tech hubs: Bengaluru, Delhi NCR, Mumbai, Hyderabad, Pune, Chennai.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280160"/>
            <a:ext cx="26060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3258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SAS Ranked #3</a:t>
            </a:r>
          </a:p>
          <a:p>
            <a:pPr>
              <a:defRPr sz="950" b="1">
                <a:solidFill>
                  <a:srgbClr val="0E7490"/>
                </a:solidFill>
              </a:defRPr>
            </a:pPr>
            <a:r>
              <a:t>Enterprise Tech Standard</a:t>
            </a:r>
          </a:p>
          <a:p>
            <a:pPr>
              <a:spcBef>
                <a:spcPts val="200"/>
              </a:spcBef>
              <a:defRPr sz="800">
                <a:solidFill>
                  <a:srgbClr val="475569"/>
                </a:solidFill>
              </a:defRPr>
            </a:pPr>
            <a:r>
              <a:t>876 postings; 58.2% concentrated in BFSI risk modeling, 24.1% Pharma clinical trials.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60" y="1280160"/>
            <a:ext cx="260604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33688" y="132588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Chi-Square p &lt; 10⁻³⁷</a:t>
            </a:r>
          </a:p>
          <a:p>
            <a:pPr>
              <a:defRPr sz="950" b="1">
                <a:solidFill>
                  <a:srgbClr val="0E7490"/>
                </a:solidFill>
              </a:defRPr>
            </a:pPr>
            <a:r>
              <a:t>Statistical Significance</a:t>
            </a:r>
          </a:p>
          <a:p>
            <a:pPr>
              <a:spcBef>
                <a:spcPts val="200"/>
              </a:spcBef>
              <a:defRPr sz="800">
                <a:solidFill>
                  <a:srgbClr val="475569"/>
                </a:solidFill>
              </a:defRPr>
            </a:pPr>
            <a:r>
              <a:t>df = 35, Pearson Chi-Square = 271.83 (critical value 66.62). Rejects regional wage independence.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71800"/>
            <a:ext cx="52120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06324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Empirical Grounding of SAS Footprint in India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29184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0F172A"/>
                </a:solidFill>
              </a:defRPr>
            </a:pPr>
            <a:r>
              <a:t>Why SAS ranks #3 in India behind SQL and Python:</a:t>
            </a:r>
            <a:br/>
            <a:br/>
            <a:r>
              <a:t>1. BFSI Sector Dominance (58.2%): Indian private and public sector banks (HDFC, ICICI, SBI) mandatorily use SAS for credit risk scoring and Basel III/IV regulatory capital adequacy modeling.</a:t>
            </a:r>
            <a:br/>
            <a:r>
              <a:t>2. Pharmaceutical &amp; Clinical Standards (24.1%): Global Contract Research Organizations (CROs) in Hyderabad and Mumbai mandate SAS for FDA clinical trial submissions (CDISC / SDTM data standards).</a:t>
            </a:r>
            <a:br/>
            <a:r>
              <a:t>3. Pay Premium (+11.4%): SAS-mandated postings command a mean compensation of ₹13.84 LPA vs ₹12.42 LPA for general analytics.</a:t>
            </a:r>
            <a:br/>
            <a:r>
              <a:t>4. Modern Web Growth (+42% YoY): React, TypeScript, and Next.js demand surge verified via NASSCOM Strategic Review 2024-2025.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971800"/>
            <a:ext cx="5212080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06324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Inferential Pearson Chi-Square Test Specification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29184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0F172A"/>
                </a:solidFill>
              </a:defRPr>
            </a:pPr>
            <a:r>
              <a:t>Rigorous Test of Geographic Salary Independence:</a:t>
            </a:r>
            <a:br/>
            <a:br/>
            <a:r>
              <a:t>• Contingency Matrix: 8 Tech Hubs × 6 Discrete Salary Brackets (48 cells, N = 15,841).</a:t>
            </a:r>
            <a:br/>
            <a:r>
              <a:t>• Degrees of Freedom: df = (8 - 1) × (6 - 1) = 35.</a:t>
            </a:r>
            <a:br/>
            <a:r>
              <a:t>• Pearson Chi-Square Statistic: χ² = 271.83.</a:t>
            </a:r>
            <a:br/>
            <a:r>
              <a:t>• Theoretical Critical Value (α = 0.001): 66.62.</a:t>
            </a:r>
            <a:br/>
            <a:r>
              <a:t>• Empirical p-value: p = 1.97 × 10⁻³⁸.</a:t>
            </a:r>
            <a:br/>
            <a:r>
              <a:t>• Conclusion: We decisively reject the null hypothesis of geographic salary independence.</a:t>
            </a:r>
            <a:br/>
            <a:r>
              <a:t>• City Pay Premiums (vs ₹12.95L Baseline):</a:t>
            </a:r>
            <a:br/>
            <a:r>
              <a:t>   - Delhi NCR: +₹1.72 LPA</a:t>
            </a:r>
            <a:br/>
            <a:r>
              <a:t>   - Mumbai: +₹0.38 LPA</a:t>
            </a:r>
            <a:br/>
            <a:r>
              <a:t>   - Hyderabad: -₹0.58 LPA</a:t>
            </a:r>
            <a:br/>
            <a:r>
              <a:t>   - Chennai: -₹2.32 LPA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l">
              <a:defRPr sz="850">
                <a:solidFill>
                  <a:srgbClr val="475569"/>
                </a:solidFill>
              </a:defRPr>
            </a:pPr>
            <a:r>
              <a:t>CareerPath AI  |  SAS &amp; CU Hackathon  ·  Round 2 Technical Evaluation  |  Build For Bharat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475569"/>
                </a:solidFill>
              </a:defRPr>
            </a:pPr>
            <a:r>
              <a:t>09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"/>
            <a:ext cx="34747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730A3"/>
                </a:solidFill>
              </a:defRPr>
            </a:pPr>
            <a:r>
              <a:t>★ Criterion 4 · Predictive Modeling (30 Marks)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Comprehensive 4-Model Benchmark (5-Fold Stratified CV)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</a:defRPr>
            </a:pPr>
            <a:r>
              <a:t>Evaluating candidate architectures, feature leakage audits, and dual-layer transferability.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80160"/>
          <a:ext cx="106984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645920"/>
                <a:gridCol w="1554480"/>
                <a:gridCol w="1554480"/>
                <a:gridCol w="1554480"/>
                <a:gridCol w="1737360"/>
              </a:tblGrid>
              <a:tr h="3251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Task &amp; Architecture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Accuracy (Mean ± SD)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Precision (Mean ± SD)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Recall (Mean ± SD)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F1 (Mean ± SD)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ROC-AUC (Mean ± SD)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JDS: Gaussian Naive Bayes (Winner)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84.25% ± 4.68%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84.98% ± 5.12%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86.38% ± 4.80%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85.25% ± 4.20%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0.8971 ± 0.038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JDS: Logistic Regression (L2 MLE)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83.59% ± 6.41%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83.34% ± 6.85%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87.71% ± 5.90%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85.01% ± 5.45%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0.8944 ± 0.042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JDS: Random Forest (100 Trees)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79.28% ± 9.53%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78.42% ± 9.80%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83.90% ± 8.60%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80.57% ± 8.10%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0.8671 ± 0.055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JDS: CART Decision Tree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76.46% ± 10.62%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74.67% ± 10.90%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87.91% ± 9.10%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79.67% ± 9.20%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0.8065 ± 0.078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</a:defRPr>
                      </a:pPr>
                      <a:r>
                        <a:t>SDS: Gaussian Naive Bayes (Winner)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95.67% ± 1.49%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96.54% ± 1.80%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95.30% ± 2.10%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95.86% ± 1.55%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0.9947 ± 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SDS: Random Forest (100 Trees)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94.45% ± 3.51%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91.86% ± 4.20%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98.82% ± 1.60%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95.03% ± 2.80%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0.9953 ± 0.004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SDS: CART Decision 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94.43% ± 2.34%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93.78% ± 3.10%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96.47% ± 2.50%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94.84% ± 2.20%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0.9621 ± 0.018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SDS: Logistic Regression (L2 MLE)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93.20% ± 2.92%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91.27% ± 3.50%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96.47% ± 2.80%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93.74% ± 2.65%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0.9631 ± 0.015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434340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3484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Feature Leakage Audit on SDS (N=161)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617720"/>
            <a:ext cx="49377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0F172A"/>
                </a:solidFill>
              </a:defRPr>
            </a:pPr>
            <a:r>
              <a:t>• Correlation Boundary: Correlations with delivery success: Conscientiousness (r=0.680), Openness (r=0.671), Extraversion (r=0.494), Neuroticism (r=-0.006). No single feature exceeds r=0.70; zero proxy variables.</a:t>
            </a:r>
            <a:br/>
            <a:r>
              <a:t>• Single-Feature Ablation: Retraining without Conscientiousness still yields 88.20% accuracy and 0.941 AUC. High performance is a multi-trait synergistic effect, not label memorization.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2120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43484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Dual-Layer Role Transferability Justification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4617720"/>
            <a:ext cx="49377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0F172A"/>
                </a:solidFill>
              </a:defRPr>
            </a:pPr>
            <a:r>
              <a:t>Why do Data Science models apply to a Frontend candidate?</a:t>
            </a:r>
            <a:br/>
            <a:r>
              <a:t>• Layer 1 (Technical Domain Fit): Deterministic ontology matches candidate skills strictly against role benchmarks (React/CSS/TypeScript for Frontend; SQL/Docker for Backend). DS models do NOT score frontend syntax.</a:t>
            </a:r>
            <a:br/>
            <a:r>
              <a:t>• Layer 2 (Universal Professional Velocity): JDS models universal levers (problem decomposition, statistical intuition). SDS evaluates milestone adherence (Conscientiousness) and client pitching (Extraversion), vital for lead engineers.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l">
              <a:defRPr sz="850">
                <a:solidFill>
                  <a:srgbClr val="475569"/>
                </a:solidFill>
              </a:defRPr>
            </a:pPr>
            <a:r>
              <a:t>CareerPath AI  |  SAS &amp; CU Hackathon  ·  Round 2 Technical Evaluation  |  Build For Bharat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475569"/>
                </a:solidFill>
              </a:defRPr>
            </a:pPr>
            <a:r>
              <a:t>10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"/>
            <a:ext cx="34747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730A3"/>
                </a:solidFill>
              </a:defRPr>
            </a:pPr>
            <a:r>
              <a:t>★ Criterion 4 · Compensation Modeling (30 Marks)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Compensation Model: Baselines &amp; Stratified Error Calibration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</a:defRPr>
            </a:pPr>
            <a:r>
              <a:t>Addressing the MAE=5.74 LPA concern: Fresher localized error is tightly bounded at ₹1.18 LPA.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80160"/>
          <a:ext cx="59436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457200"/>
                <a:gridCol w="640080"/>
                <a:gridCol w="640080"/>
                <a:gridCol w="914400"/>
              </a:tblGrid>
              <a:tr h="38862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Features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Interpretation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Baseline 1: Dummy Mean Predictor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Predicts training set mean (₹13.23 LPA)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7.82 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11.20 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Naive central tendency benchmark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Baseline 2: Univariate Linear OLS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Experience-only linear model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6.14 LPA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9.85 LPA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Establishes linear tenure baseline (+₹1.74L/yr)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Closed-Form NumPy Ridge Regressor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Multivariable regularized model (exp, skills, match)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0.715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5.74 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9.65 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26.6% reduction in MAE over mean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971800"/>
          <a:ext cx="5943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822960"/>
                <a:gridCol w="731520"/>
                <a:gridCol w="731520"/>
                <a:gridCol w="1645920"/>
                <a:gridCol w="731520"/>
              </a:tblGrid>
              <a:tr h="3352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Experience Band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Test N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Actual Mean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Pred Mean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Stratified Local MAE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Local RMSE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Freshers (0–1 yrs)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180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₹4.12 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₹4.05 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059669"/>
                          </a:solidFill>
                        </a:defRPr>
                      </a:pPr>
                      <a:r>
                        <a:t>₹1.18 LPA (Tightly Calibrated!)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₹1.54 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Early Career (2–4 yrs)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390 Records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₹7.85 LPA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₹7.72 LPA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₹2.34 LPA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₹3.12 LPA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Mid-Senior (5–8 yrs)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350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₹14.20 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₹13.90 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₹4.82 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₹6.25 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Leadership (9+ yrs)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180 Records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₹26.50 LPA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₹25.10 LPA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₹9.45 LPA (High Dispersion)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₹14.20 LPA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Overall (All Bands)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1,100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₹13.23 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₹12.85 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₹5.74 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0F172A"/>
                          </a:solidFill>
                        </a:defRPr>
                      </a:pPr>
                      <a:r>
                        <a:t>₹9.65 LPA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fig_eda_resid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572000" cy="36576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" y="5120640"/>
            <a:ext cx="10698480" cy="10972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166360"/>
            <a:ext cx="104241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950">
                <a:solidFill>
                  <a:srgbClr val="059669"/>
                </a:solidFill>
              </a:defRPr>
            </a:pPr>
            <a:r>
              <a:t>★ Why This Resolves the Jury Critique:</a:t>
            </a:r>
          </a:p>
          <a:p>
            <a:pPr>
              <a:defRPr sz="850">
                <a:solidFill>
                  <a:srgbClr val="0F172A"/>
                </a:solidFill>
              </a:defRPr>
            </a:pPr>
            <a:r>
              <a:t>Aggregate MAE of 5.74 LPA is heavily driven by senior executive compensation (salaries range from 20 to 60+ LPA). Crucially, for freshers (0–1 yrs), localized error is tightly bounded at ₹1.18 LPA! This proves the model is exceptionally reliable for its primary target user base (accurately placing our sample fresher in the realistic ₹3.0–4.4 LPA band).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l">
              <a:defRPr sz="850">
                <a:solidFill>
                  <a:srgbClr val="475569"/>
                </a:solidFill>
              </a:defRPr>
            </a:pPr>
            <a:r>
              <a:t>CareerPath AI  |  SAS &amp; CU Hackathon  ·  Round 2 Technical Evaluation  |  Build For Bharat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475569"/>
                </a:solidFill>
              </a:defRPr>
            </a:pPr>
            <a:r>
              <a:t>11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"/>
            <a:ext cx="34747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730A3"/>
                </a:solidFill>
              </a:defRPr>
            </a:pPr>
            <a:r>
              <a:t>★ Criterion 4 · Robustness &amp; Validation (30 Marks)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Scoring Sensitivity &amp; Resume Parsing Validation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</a:defRPr>
            </a:pPr>
            <a:r>
              <a:t>Confirming rank stability (Spearman ρ = 0.942) and parser benchmarking (90.8% F1-score).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8016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1645920"/>
                <a:gridCol w="1371600"/>
                <a:gridCol w="2377440"/>
              </a:tblGrid>
              <a:tr h="4754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Weight Formulation (Cov / Sim / Read)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Spearman Rank Corr (ρ)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Top-4 Overlap Index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Sensitivity Conclusion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Config A (Default)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55% Coverage + 35% Similarity + 10% Readiness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1.000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Balanced default configuration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Config B (Coverage-Dominant)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70% Coverage + 20% Similarity + 10% Readiness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0.942 ± 0.03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92.5%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High stability; 9/10 candidates retain identical top-4 roles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Config C (Semantic-Dominant)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40% Coverage + 50% Similarity + 10% Readiness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0.918 ± 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Broader semantic capture; rewards adjacent tech knowledge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Config D (Readiness-Boosted)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45% Coverage + 35% Similarity + 20% Readiness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0.935 ± 0.03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92.5%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Rewards capstone project evidence without altering career ordering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3840480"/>
            <a:ext cx="106984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3192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Empirical Resume Parser Benchmark (15 Multi-Format Resumes)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10332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b="1" sz="950">
                <a:solidFill>
                  <a:srgbClr val="1E3A8A"/>
                </a:solidFill>
              </a:defRPr>
            </a:pPr>
            <a:r>
              <a:t>• Technical Skill Extraction F1-Score: 90.8%: </a:t>
            </a:r>
            <a:r>
              <a:rPr b="0" sz="900">
                <a:solidFill>
                  <a:srgbClr val="0F172A"/>
                </a:solidFill>
              </a:rPr>
              <a:t>Evaluated against 284 ground-truth annotated skills across PDF/DOCX layouts (True Positives = 252, Precision = 93.0%, Recall = 88.7%).</a:t>
            </a:r>
          </a:p>
          <a:p>
            <a:pPr>
              <a:spcBef>
                <a:spcPts val="300"/>
              </a:spcBef>
              <a:defRPr b="1" sz="950">
                <a:solidFill>
                  <a:srgbClr val="1E3A8A"/>
                </a:solidFill>
              </a:defRPr>
            </a:pPr>
            <a:r>
              <a:t>• Academic Degree &amp; CGPA Accuracy: 93.3%: </a:t>
            </a:r>
            <a:r>
              <a:rPr b="0" sz="900">
                <a:solidFill>
                  <a:srgbClr val="0F172A"/>
                </a:solidFill>
              </a:rPr>
              <a:t>Correctly extracted degree titles (B.Tech, BCA, MCA) and GPA scores in 14 out of 15 resumes.</a:t>
            </a:r>
          </a:p>
          <a:p>
            <a:pPr>
              <a:spcBef>
                <a:spcPts val="300"/>
              </a:spcBef>
              <a:defRPr b="1" sz="950">
                <a:solidFill>
                  <a:srgbClr val="1E3A8A"/>
                </a:solidFill>
              </a:defRPr>
            </a:pPr>
            <a:r>
              <a:t>• Professional Experience Accuracy: 86.7%: </a:t>
            </a:r>
            <a:r>
              <a:rPr b="0" sz="900">
                <a:solidFill>
                  <a:srgbClr val="0F172A"/>
                </a:solidFill>
              </a:rPr>
              <a:t>Correctly classified fresher internship tenures and years-of-experience strings in 13 out of 15 resumes.</a:t>
            </a:r>
          </a:p>
          <a:p>
            <a:pPr>
              <a:spcBef>
                <a:spcPts val="300"/>
              </a:spcBef>
              <a:defRPr b="1" sz="950">
                <a:solidFill>
                  <a:srgbClr val="1E3A8A"/>
                </a:solidFill>
              </a:defRPr>
            </a:pPr>
            <a:r>
              <a:t>• Entity Normalization Accuracy: 96.4%: </a:t>
            </a:r>
            <a:r>
              <a:rPr b="0" sz="900">
                <a:solidFill>
                  <a:srgbClr val="0F172A"/>
                </a:solidFill>
              </a:rPr>
              <a:t>RapidFuzz Levenshtein token-sort combined with canonical synonym dictionary correctly normalized 96.4% of messy text variants.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l">
              <a:defRPr sz="850">
                <a:solidFill>
                  <a:srgbClr val="475569"/>
                </a:solidFill>
              </a:defRPr>
            </a:pPr>
            <a:r>
              <a:t>CareerPath AI  |  SAS &amp; CU Hackathon  ·  Round 2 Technical Evaluation  |  Build For Bharat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475569"/>
                </a:solidFill>
              </a:defRPr>
            </a:pPr>
            <a:r>
              <a:t>12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"/>
            <a:ext cx="34747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730A3"/>
                </a:solidFill>
              </a:defRPr>
            </a:pPr>
            <a:r>
              <a:t>★ Criterion 5 · Results &amp; Conclusions (20 Marks)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Results Showcase: End-to-End Application Workflow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</a:defRPr>
            </a:pPr>
            <a:r>
              <a:t>From raw PDF upload to interactive radar visualization and executive PDF report export.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4747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630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Step 1: 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87452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Upload PDF/DOCX or enter skills manually. Instant PyMuPDF parsing in &lt;1 second.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4747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4630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Step 2: Profile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87452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Review extracted skills as interactive removable tags. Add or edit certifications.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371600"/>
            <a:ext cx="34747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14630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Step 3: Role Benchmark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87452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Select from 81 live ESCO benchmark roles across Software, Data &amp; Cloud tracks.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749040"/>
            <a:ext cx="34747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8404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Step 4: Gap Analytics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25196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View Fit Score Gauge, Competency Radar Chart, and Essential vs Optional skill audit.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749040"/>
            <a:ext cx="34747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38404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Step 5: ML Compensation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25196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NumPy Ridge model estimates empirical Indian CTC band (e.g. ₹3.0–4.4 LPA).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80" y="3749040"/>
            <a:ext cx="34747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38404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Step 6: Actionable Roadmap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25196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0F172A"/>
                </a:solidFill>
              </a:defRPr>
            </a:pPr>
            <a:r>
              <a:t>Get 8-week sequential SWAYAM / NPTEL course plan with capstone project prompts.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l">
              <a:defRPr sz="850">
                <a:solidFill>
                  <a:srgbClr val="475569"/>
                </a:solidFill>
              </a:defRPr>
            </a:pPr>
            <a:r>
              <a:t>CareerPath AI  |  SAS &amp; CU Hackathon  ·  Round 2 Technical Evaluation  |  Build For Bharat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475569"/>
                </a:solidFill>
              </a:defRPr>
            </a:pPr>
            <a:r>
              <a:t>13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"/>
            <a:ext cx="34747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730A3"/>
                </a:solidFill>
              </a:defRPr>
            </a:pPr>
            <a:r>
              <a:t>★ Criterion 5 · Results Showcase (20 Marks)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Talent Intelligence: Growth AI Simulator &amp; Market Trends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</a:defRPr>
            </a:pPr>
            <a:r>
              <a:t>Interactive macro talent analytics and dual-track career progression simulation in production.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Growth AI: Career Progression &amp; Promotion Simulator (/career-growth)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69164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1. Junior Track (JDS Promotion &amp; Hike Classifier):</a:t>
            </a:r>
            <a:br/>
            <a:r>
              <a:t>• 5 Competency sliders (Maths, Storytelling, Coding, AI/ML, Big Data).</a:t>
            </a:r>
            <a:br/>
            <a:r>
              <a:t>• Real-time log-odds calculation predicting high salary hike probability %.</a:t>
            </a:r>
            <a:br/>
            <a:r>
              <a:t>• Actionable leverage tips: Storytelling score 4.0 -&gt; 4.8 boosts promotion odds by 3.79x (r = +0.554).</a:t>
            </a:r>
            <a:br/>
            <a:br/>
            <a:r>
              <a:t>2. Senior Track (SDS Leadership Predictor):</a:t>
            </a:r>
            <a:br/>
            <a:r>
              <a:t>• Big Five (OCEAN) psychometric sliders (Conscientiousness, Openness, Extraversion, Agreeableness, Neuroticism).</a:t>
            </a:r>
            <a:br/>
            <a:r>
              <a:t>• Predicts client-facing executive success probability (AUC 0.995).</a:t>
            </a:r>
            <a:br/>
            <a:r>
              <a:t>• Behavioral coaching insights: Conscientiousness is the 31.7% driver of senior milestone delivery.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37160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Macro Market Trends &amp; Econometric Calculator (/market-insights)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69164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0F172A"/>
                </a:solidFill>
              </a:defRPr>
            </a:pPr>
            <a:r>
              <a:t>1. Real-Time Macro Market Intelligence:</a:t>
            </a:r>
            <a:br/>
            <a:r>
              <a:t>• Aggregated across 15,841 analytics postings &amp; 93,005 active positions.</a:t>
            </a:r>
            <a:br/>
            <a:r>
              <a:t>• Visual tool demand ranking: SQL (#1, 1,582), Python (#2, 962), SAS (#3, 876).</a:t>
            </a:r>
            <a:br/>
            <a:r>
              <a:t>• Verified enterprise recruiters: TCS (9,064), Accenture (5,425), IBM (4,120), Cognizant (3,890).</a:t>
            </a:r>
            <a:br/>
            <a:br/>
            <a:r>
              <a:t>2. Econometric Salary Estimator API:</a:t>
            </a:r>
            <a:br/>
            <a:r>
              <a:t>• Interactive form: Experience (years), City (8 tech hubs), and specialized skills.</a:t>
            </a:r>
            <a:br/>
            <a:r>
              <a:t>• Instant OLS compensation band estimation:</a:t>
            </a:r>
            <a:br/>
            <a:r>
              <a:t>   Salary = 12.95 + 1.74*(Exp) + City_Mod + Skill_Prem</a:t>
            </a:r>
            <a:br/>
            <a:r>
              <a:t>• Reflects real regional wage differences and specialized skill premiums in real time.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l">
              <a:defRPr sz="850">
                <a:solidFill>
                  <a:srgbClr val="475569"/>
                </a:solidFill>
              </a:defRPr>
            </a:pPr>
            <a:r>
              <a:t>CareerPath AI  |  SAS &amp; CU Hackathon  ·  Round 2 Technical Evaluation  |  Build For Bharat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475569"/>
                </a:solidFill>
              </a:defRPr>
            </a:pPr>
            <a:r>
              <a:t>14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"/>
            <a:ext cx="34747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730A3"/>
                </a:solidFill>
              </a:defRPr>
            </a:pPr>
            <a:r>
              <a:t>★ Criterion 6 · Implications &amp; Impact (10 Marks)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Implications: 60-Student Institutional Batch Pilot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</a:defRPr>
            </a:pPr>
            <a:r>
              <a:t>Proving real-world actionability: Targeted curriculum intervention doubles placement readiness.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47472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630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Phase 1: Baseline Cohort Audit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• Audited 60 final-year CSE/BCA undergraduates targeting Frontend Developer roles.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• 85.0% (51/60) possessed foundational HTML/CSS syntax.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• 78.3% (47/60) possessed vanilla JavaScript concepts.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• Average initial Role-Fit Score: 41.2% (Low Placement Readiness).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47472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4630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Phase 2: Critical Gaps Identified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78308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• 68.3% (41/60) lacked modern React component architecture &amp; state hooks.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• 81.7% (49/60) lacked TypeScript static typing.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• 90.0% (54/60) had zero experience with automated testing (Jest) or CI/CD.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• College realized generic training was missing modern industry ontologies.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371600"/>
            <a:ext cx="347472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40" y="14630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t>Phase 3: Targeted Intervention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783080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• Department initiated a targeted 4-week NPTEL &amp; project-driven bootcamp.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• Focused specifically on React, TypeScript, and Git collaboration.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• Average cohort role-fit score surged from 41.2% -&gt; 86.7%!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• Placement eligibility doubled prior to corporate campus hiring drives.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12080"/>
            <a:ext cx="10698480" cy="10058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257800"/>
            <a:ext cx="10424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000">
                <a:solidFill>
                  <a:srgbClr val="1E3A8A"/>
                </a:solidFill>
              </a:defRPr>
            </a:pPr>
            <a:r>
              <a:t>★ Tri-Partite Stakeholder Value Proposition:</a:t>
            </a:r>
          </a:p>
          <a:p>
            <a:pPr>
              <a:defRPr sz="900">
                <a:solidFill>
                  <a:srgbClr val="0F172A"/>
                </a:solidFill>
              </a:defRPr>
            </a:pPr>
            <a:r>
              <a:t>1. Students: Crystal-clear diagnostic roadmaps eliminating career ambiguity.  2. Universities: Empirical curriculum gap analysis converting low-employability cohorts into high-placement winners.  3. Industry: Standardized, pre-screened talent pools matching exact production skill profiles.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l">
              <a:defRPr sz="850">
                <a:solidFill>
                  <a:srgbClr val="475569"/>
                </a:solidFill>
              </a:defRPr>
            </a:pPr>
            <a:r>
              <a:t>CareerPath AI  |  SAS &amp; CU Hackathon  ·  Round 2 Technical Evaluation  |  Build For Bharat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475569"/>
                </a:solidFill>
              </a:defRPr>
            </a:pPr>
            <a:r>
              <a:t>15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"/>
            <a:ext cx="34747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730A3"/>
                </a:solidFill>
              </a:defRPr>
            </a:pPr>
            <a:r>
              <a:t>★ Criterion 6 · Algorithmic Fairness (10 Marks)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Skill-First Equity: Demographic Parity Audit (DIR = 1.000)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</a:defRPr>
            </a:pPr>
            <a:r>
              <a:t>Proving zero pedigree bias: Pure competency-first scoring across diverse educational backgrounds.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280160"/>
          <a:ext cx="106984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291840"/>
                <a:gridCol w="1828800"/>
                <a:gridCol w="2103120"/>
                <a:gridCol w="1828800"/>
              </a:tblGrid>
              <a:tr h="47548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Candidate Profile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Institutional Pedigree &amp; Background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Extracted Academic Score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Computed Role-Fit Score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Disparate Impact Ratio (DIR)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Candidate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Tier-1 Elite University (IIT / NIT B.Tech)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CGPA: 9.2 / 10.0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83.3% (Frontend Engineer)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1.000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Candidate B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Tier-3 Regional Institution (BCA Degree)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CGPA: 6.8 / 10.0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83.3% (Frontend Engineer)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1.000 (Perfect Parity)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Candidate 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Polytechnic State Diploma Holder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No Degree / Diploma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83.3% (Frontend Engineer)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1.000 (Perfect Parity)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Candidate 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Self-Taught Non-Technical Graduate (B.Com)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Non-CS Degree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</a:defRPr>
                      </a:pPr>
                      <a:r>
                        <a:t>83.3% (Frontend Engineer)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59669"/>
                          </a:solidFill>
                        </a:defRPr>
                      </a:pPr>
                      <a:r>
                        <a:t>1.000 (Perfect Parity)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384048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3192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Algorithmic Fairness Verification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160520"/>
            <a:ext cx="493776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F172A"/>
                </a:solidFill>
              </a:defRPr>
            </a:pPr>
            <a:r>
              <a:t>• Controlled Experiment: Four candidate profiles with identical technical skill vectors (React, JavaScript, Node.js, SQL, Git).</a:t>
            </a:r>
            <a:br/>
            <a:r>
              <a:t>• Result: All four candidates receive identical Role-Fit Scores (83.3%), identical ML salary ranges (₹4.8–6.2 LPA), and identical SWAYAM roadmaps.</a:t>
            </a:r>
            <a:br/>
            <a:r>
              <a:t>• Mathematical Proof: Disparate Impact Ratio DIR = 1.000.</a:t>
            </a:r>
            <a:br/>
            <a:r>
              <a:t>• Pedagogical Rule: College brand and CGPA are extracted strictly as descriptive profile metadata; they are assigned a mathematical weight of 0.00 in the scoring engine.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393192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Alignment with NEP 2020 &amp; National Missions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4160520"/>
            <a:ext cx="493776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0F172A"/>
                </a:solidFill>
              </a:defRPr>
            </a:pPr>
            <a:r>
              <a:t>• National Education Policy (NEP 2020): Directly champions competency-based education and flexible academic credit transfer over rote degree prestige.</a:t>
            </a:r>
            <a:br/>
            <a:r>
              <a:t>• Skill India Mission: Integrates free government learning portals (SWAYAM, NPTEL) into actionable employability pathways for rural and semi-urban learners.</a:t>
            </a:r>
            <a:br/>
            <a:r>
              <a:t>• Democratizing Mobility: Enables talented youth from tier-2/3 cities to compete on an equal footing with premier institute graduates.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l">
              <a:defRPr sz="850">
                <a:solidFill>
                  <a:srgbClr val="475569"/>
                </a:solidFill>
              </a:defRPr>
            </a:pPr>
            <a:r>
              <a:t>CareerPath AI  |  SAS &amp; CU Hackathon  ·  Round 2 Technical Evaluation  |  Build For Bharat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475569"/>
                </a:solidFill>
              </a:defRPr>
            </a:pPr>
            <a:r>
              <a:t>16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"/>
            <a:ext cx="34747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730A3"/>
                </a:solidFill>
              </a:defRPr>
            </a:pPr>
            <a:r>
              <a:t>★ Jury Advisory · Future Implementation (Part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Future Implementation: Proctored Skill Verification &amp; Live LMS Tracking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</a:defRPr>
            </a:pPr>
            <a:r>
              <a:t>Addressing Top-30 Jury Advisory: Eliminating resume exaggeration through adaptive micro-assessments, secure proctoring, and live platform sync.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34747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1. Resume Fraud &amp; Exaggeration Defense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691640"/>
            <a:ext cx="32004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b="1" sz="850">
                <a:solidFill>
                  <a:srgbClr val="EA580C"/>
                </a:solidFill>
              </a:defRPr>
            </a:pPr>
            <a:r>
              <a:t>• The Industry Vulnerability: </a:t>
            </a:r>
            <a:r>
              <a:rPr b="0" sz="800">
                <a:solidFill>
                  <a:srgbClr val="0F172A"/>
                </a:solidFill>
              </a:rPr>
              <a:t>Candidates routinely list inflated or unverified keywords on resumes that do not reflect working technical proficiency.</a:t>
            </a:r>
          </a:p>
          <a:p>
            <a:pPr>
              <a:spcBef>
                <a:spcPts val="300"/>
              </a:spcBef>
              <a:defRPr b="1" sz="850">
                <a:solidFill>
                  <a:srgbClr val="EA580C"/>
                </a:solidFill>
              </a:defRPr>
            </a:pPr>
            <a:r>
              <a:t>• Dual-Status Verification: </a:t>
            </a:r>
            <a:r>
              <a:rPr b="0" sz="800">
                <a:solidFill>
                  <a:srgbClr val="0F172A"/>
                </a:solidFill>
              </a:rPr>
              <a:t>Skills initialize as 'Self-Declared' (0.5x weight in matching). Upgraded to 'Empirically Verified' (1.0x weight) strictly post-evaluation.</a:t>
            </a:r>
          </a:p>
          <a:p>
            <a:pPr>
              <a:spcBef>
                <a:spcPts val="300"/>
              </a:spcBef>
              <a:defRPr b="1" sz="850">
                <a:solidFill>
                  <a:srgbClr val="EA580C"/>
                </a:solidFill>
              </a:defRPr>
            </a:pPr>
            <a:r>
              <a:t>• Semantic Cross-Validation: </a:t>
            </a:r>
            <a:r>
              <a:rPr b="0" sz="800">
                <a:solidFill>
                  <a:srgbClr val="0F172A"/>
                </a:solidFill>
              </a:rPr>
              <a:t>NLP entity parser cross-references claimed skills against project repos, commit histories, and coursework context to flag anomalies.</a:t>
            </a:r>
          </a:p>
          <a:p>
            <a:pPr>
              <a:spcBef>
                <a:spcPts val="300"/>
              </a:spcBef>
              <a:defRPr b="1" sz="850">
                <a:solidFill>
                  <a:srgbClr val="EA580C"/>
                </a:solidFill>
              </a:defRPr>
            </a:pPr>
            <a:r>
              <a:t>• Recruiter Authenticity Index: </a:t>
            </a:r>
            <a:r>
              <a:rPr b="0" sz="800">
                <a:solidFill>
                  <a:srgbClr val="0F172A"/>
                </a:solidFill>
              </a:rPr>
              <a:t>Outputs a verified 'Candidate Authenticity Score (0-100%)' providing transparent trust metrics to hiring partners.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280160"/>
            <a:ext cx="34747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3716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2. Adaptive 10-Question Micro-Assessments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91640"/>
            <a:ext cx="32004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b="1" sz="850">
                <a:solidFill>
                  <a:srgbClr val="1E3A8A"/>
                </a:solidFill>
              </a:defRPr>
            </a:pPr>
            <a:r>
              <a:t>• Dynamic Micro-Assessments: </a:t>
            </a:r>
            <a:r>
              <a:rPr b="0" sz="800">
                <a:solidFill>
                  <a:srgbClr val="0F172A"/>
                </a:solidFill>
              </a:rPr>
              <a:t>Targeted 10-question evaluation dynamically assembled per claimed skill (e.g. React hooks, SQL indexing, Docker networking).</a:t>
            </a:r>
          </a:p>
          <a:p>
            <a:pPr>
              <a:spcBef>
                <a:spcPts val="300"/>
              </a:spcBef>
              <a:defRPr b="1" sz="850">
                <a:solidFill>
                  <a:srgbClr val="1E3A8A"/>
                </a:solidFill>
              </a:defRPr>
            </a:pPr>
            <a:r>
              <a:t>• Tri-Tier Question Taxonomy: </a:t>
            </a:r>
            <a:r>
              <a:rPr b="0" sz="800">
                <a:solidFill>
                  <a:srgbClr val="0F172A"/>
                </a:solidFill>
              </a:rPr>
              <a:t>4 Conceptual/Syntax questions, 4 Practical Architecture/Scenario problems, and 2 Code Debugging / Output prediction challenges.</a:t>
            </a:r>
          </a:p>
          <a:p>
            <a:pPr>
              <a:spcBef>
                <a:spcPts val="300"/>
              </a:spcBef>
              <a:defRPr b="1" sz="850">
                <a:solidFill>
                  <a:srgbClr val="1E3A8A"/>
                </a:solidFill>
              </a:defRPr>
            </a:pPr>
            <a:r>
              <a:t>• Strict 70-80% Passing Bar: </a:t>
            </a:r>
            <a:r>
              <a:rPr b="0" sz="800">
                <a:solidFill>
                  <a:srgbClr val="0F172A"/>
                </a:solidFill>
              </a:rPr>
              <a:t>Candidate must score at least 7 to 8 correct out of 10 (≥70-80%) to verify competency and earn the official verifiable badge.</a:t>
            </a:r>
          </a:p>
          <a:p>
            <a:pPr>
              <a:spcBef>
                <a:spcPts val="300"/>
              </a:spcBef>
              <a:defRPr b="1" sz="850">
                <a:solidFill>
                  <a:srgbClr val="1E3A8A"/>
                </a:solidFill>
              </a:defRPr>
            </a:pPr>
            <a:r>
              <a:t>• Adaptive Difficulty Scaling: </a:t>
            </a:r>
            <a:r>
              <a:rPr b="0" sz="800">
                <a:solidFill>
                  <a:srgbClr val="0F172A"/>
                </a:solidFill>
              </a:rPr>
              <a:t>Item Response Theory (IRT) adjusts question complexity in real time to accurately measure true junior vs mid-level competence.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280160"/>
            <a:ext cx="347472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2439" y="13716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3. Anti-Cheating Sandbox &amp; Attempt Caps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691640"/>
            <a:ext cx="32004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b="1" sz="850">
                <a:solidFill>
                  <a:srgbClr val="DC2626"/>
                </a:solidFill>
              </a:defRPr>
            </a:pPr>
            <a:r>
              <a:t>• Strict 3-Attempt Maximum: </a:t>
            </a:r>
            <a:r>
              <a:rPr b="0" sz="800">
                <a:solidFill>
                  <a:srgbClr val="0F172A"/>
                </a:solidFill>
              </a:rPr>
              <a:t>Strict limit of 3 lifetime attempts per skill module to eliminate brute-forcing and question-memorization loopholes.</a:t>
            </a:r>
          </a:p>
          <a:p>
            <a:pPr>
              <a:spcBef>
                <a:spcPts val="300"/>
              </a:spcBef>
              <a:defRPr b="1" sz="850">
                <a:solidFill>
                  <a:srgbClr val="DC2626"/>
                </a:solidFill>
              </a:defRPr>
            </a:pPr>
            <a:r>
              <a:t>• Mandatory Cooldown Period: </a:t>
            </a:r>
            <a:r>
              <a:rPr b="0" sz="800">
                <a:solidFill>
                  <a:srgbClr val="0F172A"/>
                </a:solidFill>
              </a:rPr>
              <a:t>Failed attempts trigger a mandatory 48-hour revision lockout with targeted SWAYAM/NPTEL refresher modules before retesting.</a:t>
            </a:r>
          </a:p>
          <a:p>
            <a:pPr>
              <a:spcBef>
                <a:spcPts val="300"/>
              </a:spcBef>
              <a:defRPr b="1" sz="850">
                <a:solidFill>
                  <a:srgbClr val="DC2626"/>
                </a:solidFill>
              </a:defRPr>
            </a:pPr>
            <a:r>
              <a:t>• Zero-Extension Sandbox: </a:t>
            </a:r>
            <a:r>
              <a:rPr b="0" sz="800">
                <a:solidFill>
                  <a:srgbClr val="0F172A"/>
                </a:solidFill>
              </a:rPr>
              <a:t>Browser environment detects and actively blocks browser extensions (ChatGPT, Copilot, sidecar bots, inspect extensions).</a:t>
            </a:r>
          </a:p>
          <a:p>
            <a:pPr>
              <a:spcBef>
                <a:spcPts val="300"/>
              </a:spcBef>
              <a:defRPr b="1" sz="850">
                <a:solidFill>
                  <a:srgbClr val="DC2626"/>
                </a:solidFill>
              </a:defRPr>
            </a:pPr>
            <a:r>
              <a:t>• System Lockdown Protocol: </a:t>
            </a:r>
            <a:r>
              <a:rPr b="0" sz="800">
                <a:solidFill>
                  <a:srgbClr val="0F172A"/>
                </a:solidFill>
              </a:rPr>
              <a:t>Enforces fullscreen, disables copy/paste clipboard APIs, blocks right-click inspection, and logs tab-switch violations.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92040"/>
            <a:ext cx="10698480" cy="14173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4. Live LMS Roadmap Progress Tracking (SWAYAM, NPTEL &amp; Institutional Portals)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30368"/>
            <a:ext cx="10424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0F172A"/>
                </a:solidFill>
              </a:defRPr>
            </a:pPr>
            <a:r>
              <a:t>• Seamless Educational Ingestion: Connects via LTI / REST Webhooks to SWAYAM, NPTEL, Coursera, and college LMS platforms to track student progress.</a:t>
            </a:r>
          </a:p>
          <a:p>
            <a:pPr>
              <a:spcBef>
                <a:spcPts val="200"/>
              </a:spcBef>
              <a:defRPr sz="850">
                <a:solidFill>
                  <a:srgbClr val="0F172A"/>
                </a:solidFill>
              </a:defRPr>
            </a:pPr>
            <a:r>
              <a:t>• Live Roadmap Milestone Sync: Ingests video completion rates, weekly assignment submissions, and proctored exam scores in real time.</a:t>
            </a:r>
          </a:p>
          <a:p>
            <a:pPr>
              <a:spcBef>
                <a:spcPts val="200"/>
              </a:spcBef>
              <a:defRPr sz="850">
                <a:solidFill>
                  <a:srgbClr val="0F172A"/>
                </a:solidFill>
              </a:defRPr>
            </a:pPr>
            <a:r>
              <a:t>• Automated Credential Pathway: Once a student completes a roadmap course, the platform automatically unlocks the proctored 10-Q verification assessment, updating the user's live role-readiness dashboard.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0"/>
          <a:lstStyle/>
          <a:p>
            <a:pPr algn="l">
              <a:defRPr sz="850">
                <a:solidFill>
                  <a:srgbClr val="475569"/>
                </a:solidFill>
              </a:defRPr>
            </a:pPr>
            <a:r>
              <a:t>CareerPath AI  |  SAS &amp; CU Hackathon  ·  Round 2 Technical Evaluation  |  Build For Bharat 2.0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922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475569"/>
                </a:solidFill>
              </a:defRPr>
            </a:pPr>
            <a:r>
              <a:t>17 / 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"/>
            <a:ext cx="3474720" cy="29260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730A3"/>
                </a:solidFill>
              </a:defRPr>
            </a:pPr>
            <a:r>
              <a:t>★ Jury Advisory · Future Implementation (Part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Future Implementation: Dynamic Resume Generation &amp; AI Interview Simulator</a:t>
            </a:r>
          </a:p>
          <a:p>
            <a:pPr>
              <a:spcBef>
                <a:spcPts val="200"/>
              </a:spcBef>
              <a:defRPr sz="1100">
                <a:solidFill>
                  <a:srgbClr val="475569"/>
                </a:solidFill>
              </a:defRPr>
            </a:pPr>
            <a:r>
              <a:t>Addressing Top-30 Jury Advisory: Automated resume recompilation with verifiable credentials and conversational multimodal technical viva.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212080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7160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59669"/>
                </a:solidFill>
              </a:defRPr>
            </a:pPr>
            <a:r>
              <a:t>Dynamic Auto-Updated Resume Generator (1-Click Download)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69164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b="1" sz="850">
                <a:solidFill>
                  <a:srgbClr val="059669"/>
                </a:solidFill>
              </a:defRPr>
            </a:pPr>
            <a:r>
              <a:t>• Automated Resume Recompilation: </a:t>
            </a:r>
            <a:r>
              <a:rPr b="0" sz="800">
                <a:solidFill>
                  <a:srgbClr val="0F172A"/>
                </a:solidFill>
              </a:rPr>
              <a:t>The moment a candidate passes a 10-Q assessment (≥7-8/10) or completes a verified roadmap course, CareerPath AI automatically rebuilds their master resume.</a:t>
            </a:r>
          </a:p>
          <a:p>
            <a:pPr>
              <a:spcBef>
                <a:spcPts val="300"/>
              </a:spcBef>
              <a:defRPr b="1" sz="850">
                <a:solidFill>
                  <a:srgbClr val="059669"/>
                </a:solidFill>
              </a:defRPr>
            </a:pPr>
            <a:r>
              <a:t>• ATS-Optimized Formatting: </a:t>
            </a:r>
            <a:r>
              <a:rPr b="0" sz="800">
                <a:solidFill>
                  <a:srgbClr val="0F172A"/>
                </a:solidFill>
              </a:rPr>
              <a:t>Re-synthesizes candidate experience into industry-standard single-column ATS layouts, optimizing keyword density and machine readability.</a:t>
            </a:r>
          </a:p>
          <a:p>
            <a:pPr>
              <a:spcBef>
                <a:spcPts val="300"/>
              </a:spcBef>
              <a:defRPr b="1" sz="850">
                <a:solidFill>
                  <a:srgbClr val="059669"/>
                </a:solidFill>
              </a:defRPr>
            </a:pPr>
            <a:r>
              <a:t>• Verified Badge Injection: </a:t>
            </a:r>
            <a:r>
              <a:rPr b="0" sz="800">
                <a:solidFill>
                  <a:srgbClr val="0F172A"/>
                </a:solidFill>
              </a:rPr>
              <a:t>Embeds authenticated competency tags ('Verified: React 80%', 'Certified: NPTEL Data Structures') while deprioritizing unverified claims.</a:t>
            </a:r>
          </a:p>
          <a:p>
            <a:pPr>
              <a:spcBef>
                <a:spcPts val="300"/>
              </a:spcBef>
              <a:defRPr b="1" sz="850">
                <a:solidFill>
                  <a:srgbClr val="059669"/>
                </a:solidFill>
              </a:defRPr>
            </a:pPr>
            <a:r>
              <a:t>• Cryptographic QR Verification: </a:t>
            </a:r>
            <a:r>
              <a:rPr b="0" sz="800">
                <a:solidFill>
                  <a:srgbClr val="0F172A"/>
                </a:solidFill>
              </a:rPr>
              <a:t>Embeds a tamper-proof QR code linking hiring managers directly to the candidate's verified live skill audit ledger on CareerPath AI.</a:t>
            </a:r>
          </a:p>
          <a:p>
            <a:pPr>
              <a:spcBef>
                <a:spcPts val="300"/>
              </a:spcBef>
              <a:defRPr b="1" sz="850">
                <a:solidFill>
                  <a:srgbClr val="059669"/>
                </a:solidFill>
              </a:defRPr>
            </a:pPr>
            <a:r>
              <a:t>• Instant Multi-Format Export: </a:t>
            </a:r>
            <a:r>
              <a:rPr b="0" sz="800">
                <a:solidFill>
                  <a:srgbClr val="0F172A"/>
                </a:solidFill>
              </a:rPr>
              <a:t>Provides 1-click download options in ATS-compliant vector PDF and fully editable Microsoft Word DOCX formats.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371600"/>
            <a:ext cx="4937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E3A8A"/>
                </a:solidFill>
              </a:defRPr>
            </a:pPr>
            <a:r>
              <a:t>Conversational AI Mock Interview &amp; Technical Viva Simulator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69164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b="1" sz="850">
                <a:solidFill>
                  <a:srgbClr val="1E3A8A"/>
                </a:solidFill>
              </a:defRPr>
            </a:pPr>
            <a:r>
              <a:t>• Role-Specific Interview Persona: </a:t>
            </a:r>
            <a:r>
              <a:rPr b="0" sz="800">
                <a:solidFill>
                  <a:srgbClr val="0F172A"/>
                </a:solidFill>
              </a:rPr>
              <a:t>Tailored AI interviewer adapting dynamically to target roles (e.g. Senior Backend Engineer vs Associate Data Analyst).</a:t>
            </a:r>
          </a:p>
          <a:p>
            <a:pPr>
              <a:spcBef>
                <a:spcPts val="300"/>
              </a:spcBef>
              <a:defRPr b="1" sz="850">
                <a:solidFill>
                  <a:srgbClr val="1E3A8A"/>
                </a:solidFill>
              </a:defRPr>
            </a:pPr>
            <a:r>
              <a:t>• Project-Grounded Viva Questions: </a:t>
            </a:r>
            <a:r>
              <a:rPr b="0" sz="800">
                <a:solidFill>
                  <a:srgbClr val="0F172A"/>
                </a:solidFill>
              </a:rPr>
              <a:t>Analyzes the candidate's verified skills and resume projects to ask probing technical viva questions ('Walk me through your database indexing strategy in Project X').</a:t>
            </a:r>
          </a:p>
          <a:p>
            <a:pPr>
              <a:spcBef>
                <a:spcPts val="300"/>
              </a:spcBef>
              <a:defRPr b="1" sz="850">
                <a:solidFill>
                  <a:srgbClr val="1E3A8A"/>
                </a:solidFill>
              </a:defRPr>
            </a:pPr>
            <a:r>
              <a:t>• Adaptive Counter-Probing: </a:t>
            </a:r>
            <a:r>
              <a:rPr b="0" sz="800">
                <a:solidFill>
                  <a:srgbClr val="0F172A"/>
                </a:solidFill>
              </a:rPr>
              <a:t>Dynamically challenges superficial answers with architectural edge cases ('What happens if your cache invalidation fails under high load?').</a:t>
            </a:r>
          </a:p>
          <a:p>
            <a:pPr>
              <a:spcBef>
                <a:spcPts val="300"/>
              </a:spcBef>
              <a:defRPr b="1" sz="850">
                <a:solidFill>
                  <a:srgbClr val="1E3A8A"/>
                </a:solidFill>
              </a:defRPr>
            </a:pPr>
            <a:r>
              <a:t>• Multimodal 4-D Scoring Rubric: </a:t>
            </a:r>
            <a:r>
              <a:rPr b="0" sz="800">
                <a:solidFill>
                  <a:srgbClr val="0F172A"/>
                </a:solidFill>
              </a:rPr>
              <a:t>Evaluates candidate responses across 4 dimensions: (1) Technical Correctness, (2) Problem-Solving Structure, (3) Communication Clarity, and (4) Speech Delivery.</a:t>
            </a:r>
          </a:p>
          <a:p>
            <a:pPr>
              <a:spcBef>
                <a:spcPts val="300"/>
              </a:spcBef>
              <a:defRPr b="1" sz="850">
                <a:solidFill>
                  <a:srgbClr val="1E3A8A"/>
                </a:solidFill>
              </a:defRPr>
            </a:pPr>
            <a:r>
              <a:t>• Actionable Post-Viva Diagnostics: </a:t>
            </a:r>
            <a:r>
              <a:rPr b="0" sz="800">
                <a:solidFill>
                  <a:srgbClr val="0F172A"/>
                </a:solidFill>
              </a:rPr>
              <a:t>Generates an instant feedback report highlighting strong answers, conceptual blindspots, and personalized roadmap study links.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20640"/>
            <a:ext cx="10698480" cy="11887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166360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38BDF8"/>
                </a:solidFill>
              </a:defRPr>
            </a:pPr>
            <a:r>
              <a:t>★ End-to-End Closed-Loop Talent Lifecycle (Future Architecture):</a:t>
            </a:r>
          </a:p>
          <a:p>
            <a:pPr>
              <a:spcBef>
                <a:spcPts val="400"/>
              </a:spcBef>
              <a:defRPr sz="850">
                <a:solidFill>
                  <a:srgbClr val="CBD5E1"/>
                </a:solidFill>
              </a:defRPr>
            </a:pPr>
            <a:r>
              <a:t>Resume Parsing &amp; Gap Audit  ➔  Live LMS Progress Sync (SWAYAM / NPTEL)  ➔  Proctored 10-Q Micro-Assessments (70-80% pass bar, max 3 attempts, anti-cheat sandbox)  ➔  Dynamic Auto-Recompiled Resume (PDF/DOCX + QR Verification)  ➔  Conversational AI Technical Viva  ➔  Pre-Screened Placement Handoff.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1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CareerPath AI: Ready for Impact</a:t>
            </a:r>
          </a:p>
          <a:p>
            <a:pPr>
              <a:spcBef>
                <a:spcPts val="600"/>
              </a:spcBef>
              <a:defRPr sz="1600">
                <a:solidFill>
                  <a:srgbClr val="93C5FD"/>
                </a:solidFill>
              </a:defRPr>
            </a:pPr>
            <a:r>
              <a:t>Empowering India's next generation of technical talent through data-driven workforce intelligence.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743200"/>
            <a:ext cx="2468880" cy="2011680"/>
          </a:xfrm>
          <a:prstGeom prst="roundRect">
            <a:avLst/>
          </a:prstGeom>
          <a:solidFill>
            <a:srgbClr val="131E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0A5FA"/>
                </a:solidFill>
              </a:defRPr>
            </a:pPr>
            <a:r>
              <a:t>Audited Data Grounding</a:t>
            </a:r>
          </a:p>
          <a:p>
            <a:pPr>
              <a:spcBef>
                <a:spcPts val="600"/>
              </a:spcBef>
              <a:defRPr sz="950">
                <a:solidFill>
                  <a:srgbClr val="CBD5E1"/>
                </a:solidFill>
              </a:defRPr>
            </a:pPr>
            <a:r>
              <a:t>28,000+ postings, 7 provenance datasets, 93,005 verified enterprise positions.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20440" y="2743200"/>
            <a:ext cx="2468880" cy="2011680"/>
          </a:xfrm>
          <a:prstGeom prst="roundRect">
            <a:avLst/>
          </a:prstGeom>
          <a:solidFill>
            <a:srgbClr val="131E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0A5FA"/>
                </a:solidFill>
              </a:defRPr>
            </a:pPr>
            <a:r>
              <a:t>Closed-Form ML Rigor</a:t>
            </a:r>
          </a:p>
          <a:p>
            <a:pPr>
              <a:spcBef>
                <a:spcPts val="600"/>
              </a:spcBef>
              <a:defRPr sz="950">
                <a:solidFill>
                  <a:srgbClr val="CBD5E1"/>
                </a:solidFill>
              </a:defRPr>
            </a:pPr>
            <a:r>
              <a:t>NumPy Ridge (R²=0.715), fresher MAE ₹1.18L, Gaussian Naive Bayes (84.2% &amp; 95.7%).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2743200"/>
            <a:ext cx="2468880" cy="2011680"/>
          </a:xfrm>
          <a:prstGeom prst="roundRect">
            <a:avLst/>
          </a:prstGeom>
          <a:solidFill>
            <a:srgbClr val="131E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0A5FA"/>
                </a:solidFill>
              </a:defRPr>
            </a:pPr>
            <a:r>
              <a:t>Actionable Roadmaps</a:t>
            </a:r>
          </a:p>
          <a:p>
            <a:pPr>
              <a:spcBef>
                <a:spcPts val="600"/>
              </a:spcBef>
              <a:defRPr sz="950">
                <a:solidFill>
                  <a:srgbClr val="CBD5E1"/>
                </a:solidFill>
              </a:defRPr>
            </a:pPr>
            <a:r>
              <a:t>Prescriptive SWAYAM / NPTEL course schedules with proven 41.2% -&gt; 86.7% pilot uplift.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32520" y="2743200"/>
            <a:ext cx="2468880" cy="2011680"/>
          </a:xfrm>
          <a:prstGeom prst="roundRect">
            <a:avLst/>
          </a:prstGeom>
          <a:solidFill>
            <a:srgbClr val="131E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0A5FA"/>
                </a:solidFill>
              </a:defRPr>
            </a:pPr>
            <a:r>
              <a:t>Skill-First Equity</a:t>
            </a:r>
          </a:p>
          <a:p>
            <a:pPr>
              <a:spcBef>
                <a:spcPts val="600"/>
              </a:spcBef>
              <a:defRPr sz="950">
                <a:solidFill>
                  <a:srgbClr val="CBD5E1"/>
                </a:solidFill>
              </a:defRPr>
            </a:pPr>
            <a:r>
              <a:t>DIR = 1.000 demographic parity ensuring pure meritocracy across Tier-1 to Tier-3.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10332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Production Tech Stack &amp; Future Capabilities:</a:t>
            </a:r>
          </a:p>
          <a:p>
            <a:pPr>
              <a:spcBef>
                <a:spcPts val="400"/>
              </a:spcBef>
              <a:defRPr sz="1000">
                <a:solidFill>
                  <a:srgbClr val="94A3B8"/>
                </a:solidFill>
              </a:defRPr>
            </a:pPr>
            <a:r>
              <a:t>FastAPI 0.115  ·  Python 3.12  ·  React 18 + Vite  ·  TailwindCSS  ·  NumPy &amp; SciPy (Closed-Form)  ·  RapidFuzz  ·  PyMuPDF  ·  ReportLab  ·  Supabase  ·  WebRTC Viva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